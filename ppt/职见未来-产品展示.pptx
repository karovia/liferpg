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notesMasterIdLst>
    <p:notesMasterId r:id="rId12"/>
  </p:notesMaster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封面：职见未来 · 人生RPG，主 slogan「把人生，变成一场 RPG」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时代背景：AI 时代青少年的三重困境——信息爆炸 / 目标模糊 / 学习没反馈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产品理念：游戏化成长 = 目标拆解 × RPG 即时反馈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功能总览：5 大核心功能导览——成就树 / 魔法日记 / 职见小镇 / 冒险面板 / 自动简历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功能① AI 成就树：目标拆解为 20+ 小步任务节点，联网搜索真实参考，每步带 deadline 与验收标准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功能② 魔法日记本 + 自动化简历：写字消失、AI 墨水回应；成长记录一键成简历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功能③ 职见小镇 + 首页冒险面板：NPC 好感/委托/种田养猫；今日目标 + 撕日历 Deadline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美术与技术：8bit 像素风素材陈列 + AI 全面接入（拆解/日记/NPC/简历）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愿景封底：帮助青少年在 AI 时代更快学习、实现自我成长；把人生，变成一场 RPG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1" Type="http://schemas.openxmlformats.org/officeDocument/2006/relationships/image" Target="../media/image1.png"/><Relationship Id="rIdImage2" Type="http://schemas.openxmlformats.org/officeDocument/2006/relationships/image" Target="../media/image2.png"/><Relationship Id="rIdImage3" Type="http://schemas.openxmlformats.org/officeDocument/2006/relationships/image" Target="../media/image3.png"/><Relationship Id="rIdImage4" Type="http://schemas.openxmlformats.org/officeDocument/2006/relationships/image" Target="../media/image4.png"/><Relationship Id="rIdNotes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5" Type="http://schemas.openxmlformats.org/officeDocument/2006/relationships/image" Target="../media/image5.png"/><Relationship Id="rIdImage7" Type="http://schemas.openxmlformats.org/officeDocument/2006/relationships/image" Target="../media/image7.png"/><Relationship Id="rIdImage8" Type="http://schemas.openxmlformats.org/officeDocument/2006/relationships/image" Target="../media/image8.png"/><Relationship Id="rIdImage6" Type="http://schemas.openxmlformats.org/officeDocument/2006/relationships/image" Target="../media/image6.png"/><Relationship Id="rIdNotes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5" Type="http://schemas.openxmlformats.org/officeDocument/2006/relationships/image" Target="../media/image5.png"/><Relationship Id="rIdImage12" Type="http://schemas.openxmlformats.org/officeDocument/2006/relationships/image" Target="../media/image12.png"/><Relationship Id="rIdImage9" Type="http://schemas.openxmlformats.org/officeDocument/2006/relationships/image" Target="../media/image9.png"/><Relationship Id="rIdImage10" Type="http://schemas.openxmlformats.org/officeDocument/2006/relationships/image" Target="../media/image10.png"/><Relationship Id="rIdImage11" Type="http://schemas.openxmlformats.org/officeDocument/2006/relationships/image" Target="../media/image11.png"/><Relationship Id="rIdNotes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13" Type="http://schemas.openxmlformats.org/officeDocument/2006/relationships/image" Target="../media/image13.png"/><Relationship Id="rIdImage14" Type="http://schemas.openxmlformats.org/officeDocument/2006/relationships/image" Target="../media/image14.png"/><Relationship Id="rIdImage15" Type="http://schemas.openxmlformats.org/officeDocument/2006/relationships/image" Target="../media/image15.png"/><Relationship Id="rIdImage16" Type="http://schemas.openxmlformats.org/officeDocument/2006/relationships/image" Target="../media/image16.png"/><Relationship Id="rIdImage6" Type="http://schemas.openxmlformats.org/officeDocument/2006/relationships/image" Target="../media/image6.png"/><Relationship Id="rIdImage17" Type="http://schemas.openxmlformats.org/officeDocument/2006/relationships/image" Target="../media/image17.png"/><Relationship Id="rIdNotes4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5" Type="http://schemas.openxmlformats.org/officeDocument/2006/relationships/image" Target="../media/image5.png"/><Relationship Id="rIdImage14" Type="http://schemas.openxmlformats.org/officeDocument/2006/relationships/image" Target="../media/image14.png"/><Relationship Id="rIdNotes5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18" Type="http://schemas.openxmlformats.org/officeDocument/2006/relationships/image" Target="../media/image18.png"/><Relationship Id="rIdImage20" Type="http://schemas.openxmlformats.org/officeDocument/2006/relationships/image" Target="../media/image20.png"/><Relationship Id="rIdImage15" Type="http://schemas.openxmlformats.org/officeDocument/2006/relationships/image" Target="../media/image15.png"/><Relationship Id="rIdImage11" Type="http://schemas.openxmlformats.org/officeDocument/2006/relationships/image" Target="../media/image11.png"/><Relationship Id="rIdImage19" Type="http://schemas.openxmlformats.org/officeDocument/2006/relationships/image" Target="../media/image19.png"/><Relationship Id="rIdImage17" Type="http://schemas.openxmlformats.org/officeDocument/2006/relationships/image" Target="../media/image17.png"/><Relationship Id="rIdNotes6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21" Type="http://schemas.openxmlformats.org/officeDocument/2006/relationships/image" Target="../media/image21.png"/><Relationship Id="rIdImage6" Type="http://schemas.openxmlformats.org/officeDocument/2006/relationships/image" Target="../media/image6.png"/><Relationship Id="rIdImage25" Type="http://schemas.openxmlformats.org/officeDocument/2006/relationships/image" Target="../media/image25.png"/><Relationship Id="rIdImage16" Type="http://schemas.openxmlformats.org/officeDocument/2006/relationships/image" Target="../media/image16.png"/><Relationship Id="rIdImage22" Type="http://schemas.openxmlformats.org/officeDocument/2006/relationships/image" Target="../media/image22.png"/><Relationship Id="rIdImage23" Type="http://schemas.openxmlformats.org/officeDocument/2006/relationships/image" Target="../media/image23.png"/><Relationship Id="rIdImage24" Type="http://schemas.openxmlformats.org/officeDocument/2006/relationships/image" Target="../media/image24.png"/><Relationship Id="rIdNotes7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5" Type="http://schemas.openxmlformats.org/officeDocument/2006/relationships/image" Target="../media/image5.png"/><Relationship Id="rIdImage22" Type="http://schemas.openxmlformats.org/officeDocument/2006/relationships/image" Target="../media/image22.png"/><Relationship Id="rIdImage27" Type="http://schemas.openxmlformats.org/officeDocument/2006/relationships/image" Target="../media/image27.png"/><Relationship Id="rIdImage14" Type="http://schemas.openxmlformats.org/officeDocument/2006/relationships/image" Target="../media/image14.png"/><Relationship Id="rIdImage15" Type="http://schemas.openxmlformats.org/officeDocument/2006/relationships/image" Target="../media/image15.png"/><Relationship Id="rIdImage8" Type="http://schemas.openxmlformats.org/officeDocument/2006/relationships/image" Target="../media/image8.png"/><Relationship Id="rIdImage17" Type="http://schemas.openxmlformats.org/officeDocument/2006/relationships/image" Target="../media/image17.png"/><Relationship Id="rIdImage3" Type="http://schemas.openxmlformats.org/officeDocument/2006/relationships/image" Target="../media/image3.png"/><Relationship Id="rIdImage10" Type="http://schemas.openxmlformats.org/officeDocument/2006/relationships/image" Target="../media/image10.png"/><Relationship Id="rIdImage16" Type="http://schemas.openxmlformats.org/officeDocument/2006/relationships/image" Target="../media/image16.png"/><Relationship Id="rIdImage20" Type="http://schemas.openxmlformats.org/officeDocument/2006/relationships/image" Target="../media/image20.png"/><Relationship Id="rIdImage23" Type="http://schemas.openxmlformats.org/officeDocument/2006/relationships/image" Target="../media/image23.png"/><Relationship Id="rIdImage26" Type="http://schemas.openxmlformats.org/officeDocument/2006/relationships/image" Target="../media/image26.png"/><Relationship Id="rIdNotes8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28" Type="http://schemas.openxmlformats.org/officeDocument/2006/relationships/image" Target="../media/image28.png"/><Relationship Id="rIdImage2" Type="http://schemas.openxmlformats.org/officeDocument/2006/relationships/image" Target="../media/image2.png"/><Relationship Id="rIdImage26" Type="http://schemas.openxmlformats.org/officeDocument/2006/relationships/image" Target="../media/image26.png"/><Relationship Id="rIdImage22" Type="http://schemas.openxmlformats.org/officeDocument/2006/relationships/image" Target="../media/image22.png"/><Relationship Id="rIdImage4" Type="http://schemas.openxmlformats.org/officeDocument/2006/relationships/image" Target="../media/image4.png"/><Relationship Id="rIdNotes9" Type="http://schemas.openxmlformats.org/officeDocument/2006/relationships/notesSlide" Target="../notesSlides/notesSlide9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blipFill>
          <a:blip r:embed="rIdImage1"/>
          <a:srcRect t="21875" b="21875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rner-tl"/>
          <p:cNvPicPr/>
          <p:nvPr/>
        </p:nvPicPr>
        <p:blipFill>
          <a:blip r:embed="rIdImage2"/>
          <a:stretch>
            <a:fillRect/>
          </a:stretch>
        </p:blipFill>
        <p:spPr>
          <a:xfrm>
            <a:off x="203200" y="203200"/>
            <a:ext cx="711200" cy="711200"/>
          </a:xfrm>
          <a:prstGeom prst="rect">
            <a:avLst/>
          </a:prstGeom>
          <a:ln>
            <a:noFill/>
          </a:ln>
        </p:spPr>
      </p:pic>
      <p:pic>
        <p:nvPicPr>
          <p:cNvPr id="3" name="corner-tr"/>
          <p:cNvPicPr/>
          <p:nvPr/>
        </p:nvPicPr>
        <p:blipFill>
          <a:blip r:embed="rIdImage2"/>
          <a:stretch>
            <a:fillRect/>
          </a:stretch>
        </p:blipFill>
        <p:spPr>
          <a:xfrm flipH="1">
            <a:off x="11277600" y="203200"/>
            <a:ext cx="711200" cy="711200"/>
          </a:xfrm>
          <a:prstGeom prst="rect">
            <a:avLst/>
          </a:prstGeom>
          <a:ln>
            <a:noFill/>
          </a:ln>
        </p:spPr>
      </p:pic>
      <p:pic>
        <p:nvPicPr>
          <p:cNvPr id="4" name="corner-bl"/>
          <p:cNvPicPr/>
          <p:nvPr/>
        </p:nvPicPr>
        <p:blipFill>
          <a:blip r:embed="rIdImage2"/>
          <a:stretch>
            <a:fillRect/>
          </a:stretch>
        </p:blipFill>
        <p:spPr>
          <a:xfrm flipV="1">
            <a:off x="203200" y="5943600"/>
            <a:ext cx="711200" cy="711200"/>
          </a:xfrm>
          <a:prstGeom prst="rect">
            <a:avLst/>
          </a:prstGeom>
          <a:ln>
            <a:noFill/>
          </a:ln>
        </p:spPr>
      </p:pic>
      <p:pic>
        <p:nvPicPr>
          <p:cNvPr id="5" name="corner-br"/>
          <p:cNvPicPr/>
          <p:nvPr/>
        </p:nvPicPr>
        <p:blipFill>
          <a:blip r:embed="rIdImage2"/>
          <a:stretch>
            <a:fillRect/>
          </a:stretch>
        </p:blipFill>
        <p:spPr>
          <a:xfrm flipH="1" flipV="1">
            <a:off x="11277600" y="5943600"/>
            <a:ext cx="711200" cy="711200"/>
          </a:xfrm>
          <a:prstGeom prst="rect">
            <a:avLst/>
          </a:prstGeom>
          <a:ln>
            <a:noFill/>
          </a:ln>
        </p:spPr>
      </p:pic>
      <p:sp>
        <p:nvSpPr>
          <p:cNvPr id="6" name="top-label"/>
          <p:cNvSpPr txBox="1"/>
          <p:nvPr/>
        </p:nvSpPr>
        <p:spPr>
          <a:xfrm>
            <a:off x="3556000" y="533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000" spc="300" kern="0">
                <a:solidFill>
                  <a:srgbClr val="4A3B2A"/>
                </a:solidFill>
                <a:latin typeface="Jersey15"/>
                <a:ea typeface="Jersey15"/>
              </a:rPr>
              <a:t>AI 时代的青少年成长伙伴</a:t>
            </a:r>
            <a:endParaRPr lang="en-US" sz="1000"/>
          </a:p>
        </p:txBody>
      </p:sp>
      <p:sp>
        <p:nvSpPr>
          <p:cNvPr id="7" name="title-plate"/>
          <p:cNvSpPr/>
          <p:nvPr/>
        </p:nvSpPr>
        <p:spPr>
          <a:xfrm>
            <a:off x="2794000" y="1498600"/>
            <a:ext cx="6604000" cy="2590800"/>
          </a:xfrm>
          <a:prstGeom prst="rect">
            <a:avLst/>
          </a:prstGeom>
          <a:solidFill>
            <a:srgbClr val="F2E8D5"/>
          </a:solidFill>
          <a:ln w="38100">
            <a:solidFill>
              <a:srgbClr val="4A3B2A"/>
            </a:solidFill>
          </a:ln>
        </p:spPr>
      </p:sp>
      <p:sp>
        <p:nvSpPr>
          <p:cNvPr id="8" name="title-plate-inner"/>
          <p:cNvSpPr/>
          <p:nvPr/>
        </p:nvSpPr>
        <p:spPr>
          <a:xfrm>
            <a:off x="2921000" y="1625600"/>
            <a:ext cx="6350000" cy="2336800"/>
          </a:xfrm>
          <a:prstGeom prst="rect">
            <a:avLst/>
          </a:prstGeom>
          <a:noFill/>
          <a:ln w="12700">
            <a:solidFill>
              <a:srgbClr val="8B6B4A"/>
            </a:solidFill>
          </a:ln>
        </p:spPr>
      </p:sp>
      <p:sp>
        <p:nvSpPr>
          <p:cNvPr id="9" name="main-title"/>
          <p:cNvSpPr txBox="1"/>
          <p:nvPr/>
        </p:nvSpPr>
        <p:spPr>
          <a:xfrm>
            <a:off x="2794000" y="1778000"/>
            <a:ext cx="6604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6000">
                <a:solidFill>
                  <a:srgbClr val="4A3B2A"/>
                </a:solidFill>
                <a:effectLst>
                  <a:outerShdw blurRad="0" dist="71842" dir="2700000" sx="100000" sy="100000" kx="0" ky="0" algn="bl" rotWithShape="0">
                    <a:srgbClr val="000000"/>
                  </a:outerShdw>
                </a:effectLst>
                <a:latin typeface="精品点阵体"/>
                <a:ea typeface="精品点阵体"/>
              </a:rPr>
              <a:t>职见未来</a:t>
            </a:r>
            <a:endParaRPr lang="en-US" sz="6000"/>
          </a:p>
        </p:txBody>
      </p:sp>
      <p:sp>
        <p:nvSpPr>
          <p:cNvPr id="10" name="sub-title"/>
          <p:cNvSpPr txBox="1"/>
          <p:nvPr/>
        </p:nvSpPr>
        <p:spPr>
          <a:xfrm>
            <a:off x="2794000" y="3124200"/>
            <a:ext cx="660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spc="800" kern="0">
                <a:solidFill>
                  <a:srgbClr val="B5544A"/>
                </a:solidFill>
                <a:latin typeface="Jersey15"/>
                <a:ea typeface="Jersey15"/>
              </a:rPr>
              <a:t>— LIFE · RPG —</a:t>
            </a:r>
            <a:endParaRPr lang="en-US" sz="1500"/>
          </a:p>
        </p:txBody>
      </p:sp>
      <p:sp>
        <p:nvSpPr>
          <p:cNvPr id="11" name="sub-desc"/>
          <p:cNvSpPr txBox="1"/>
          <p:nvPr/>
        </p:nvSpPr>
        <p:spPr>
          <a:xfrm>
            <a:off x="2794000" y="35814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8B6B4A"/>
                </a:solidFill>
                <a:latin typeface="MiSans"/>
                <a:ea typeface="MiSans"/>
              </a:rPr>
              <a:t>像素风人生 RPG · Web 应用</a:t>
            </a:r>
            <a:endParaRPr lang="en-US" sz="1300"/>
          </a:p>
        </p:txBody>
      </p:sp>
      <p:pic>
        <p:nvPicPr>
          <p:cNvPr id="12" name="hero"/>
          <p:cNvPicPr/>
          <p:nvPr/>
        </p:nvPicPr>
        <p:blipFill>
          <a:blip r:embed="rIdImage3"/>
          <a:stretch>
            <a:fillRect/>
          </a:stretch>
        </p:blipFill>
        <p:spPr>
          <a:xfrm>
            <a:off x="10109200" y="4191000"/>
            <a:ext cx="1625600" cy="1625600"/>
          </a:xfrm>
          <a:prstGeom prst="rect">
            <a:avLst/>
          </a:prstGeom>
          <a:ln>
            <a:noFill/>
          </a:ln>
        </p:spPr>
      </p:pic>
      <p:pic>
        <p:nvPicPr>
          <p:cNvPr id="13" name="sparkle-l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2032000" y="1905000"/>
            <a:ext cx="558800" cy="558800"/>
          </a:xfrm>
          <a:prstGeom prst="rect">
            <a:avLst/>
          </a:prstGeom>
          <a:ln>
            <a:noFill/>
          </a:ln>
        </p:spPr>
      </p:pic>
      <p:pic>
        <p:nvPicPr>
          <p:cNvPr id="14" name="sparkle-r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9601200" y="1219200"/>
            <a:ext cx="457200" cy="457200"/>
          </a:xfrm>
          <a:prstGeom prst="rect">
            <a:avLst/>
          </a:prstGeom>
          <a:ln>
            <a:noFill/>
          </a:ln>
        </p:spPr>
      </p:pic>
      <p:sp>
        <p:nvSpPr>
          <p:cNvPr id="15" name="slogan-bar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2B2015"/>
          </a:solidFill>
          <a:ln>
            <a:noFill/>
          </a:ln>
        </p:spPr>
      </p:sp>
      <p:sp>
        <p:nvSpPr>
          <p:cNvPr id="16" name="slogan-line"/>
          <p:cNvSpPr/>
          <p:nvPr/>
        </p:nvSpPr>
        <p:spPr>
          <a:xfrm>
            <a:off x="0" y="6172200"/>
            <a:ext cx="1219200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</p:sp>
      <p:sp>
        <p:nvSpPr>
          <p:cNvPr id="17" name="slogan"/>
          <p:cNvSpPr txBox="1"/>
          <p:nvPr/>
        </p:nvSpPr>
        <p:spPr>
          <a:xfrm>
            <a:off x="0" y="6223000"/>
            <a:ext cx="1219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200">
                <a:solidFill>
                  <a:srgbClr val="FAF3E3"/>
                </a:solidFill>
                <a:latin typeface="精品点阵体"/>
                <a:ea typeface="精品点阵体"/>
              </a:rPr>
              <a:t>把人生，变成一场 RPG</a:t>
            </a:r>
            <a:endParaRPr lang="en-US" sz="22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blipFill>
          <a:blip r:embed="rIdImage5"/>
          <a:srcRect t="21875" b="21875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rand"/>
          <p:cNvSpPr txBox="1"/>
          <p:nvPr/>
        </p:nvSpPr>
        <p:spPr>
          <a:xfrm>
            <a:off x="609600" y="2794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spc="300" kern="0">
                <a:solidFill>
                  <a:srgbClr val="8B6B4A"/>
                </a:solidFill>
                <a:latin typeface="Jersey15"/>
                <a:ea typeface="Jersey15"/>
              </a:rPr>
              <a:t>ZHIJIAN · LIFE RPG</a:t>
            </a:r>
            <a:endParaRPr lang="en-US" sz="1000"/>
          </a:p>
        </p:txBody>
      </p:sp>
      <p:sp>
        <p:nvSpPr>
          <p:cNvPr id="3" name="hdr-page"/>
          <p:cNvSpPr txBox="1"/>
          <p:nvPr/>
        </p:nvSpPr>
        <p:spPr>
          <a:xfrm>
            <a:off x="10058400" y="2794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000" spc="300" kern="0">
                <a:solidFill>
                  <a:srgbClr val="8B6B4A"/>
                </a:solidFill>
                <a:latin typeface="Jersey15"/>
                <a:ea typeface="Jersey15"/>
              </a:rPr>
              <a:t>02 / 09</a:t>
            </a:r>
            <a:endParaRPr lang="en-US" sz="1000"/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9652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800">
                <a:solidFill>
                  <a:srgbClr val="4A3B2A"/>
                </a:solidFill>
                <a:latin typeface="精品点阵体"/>
                <a:ea typeface="精品点阵体"/>
              </a:rPr>
              <a:t>AI 时代，少年的三重困境</a:t>
            </a:r>
            <a:endParaRPr lang="en-US" sz="2800"/>
          </a:p>
        </p:txBody>
      </p:sp>
      <p:sp>
        <p:nvSpPr>
          <p:cNvPr id="5" name="title-tick"/>
          <p:cNvSpPr/>
          <p:nvPr/>
        </p:nvSpPr>
        <p:spPr>
          <a:xfrm>
            <a:off x="635000" y="1270000"/>
            <a:ext cx="914400" cy="63500"/>
          </a:xfrm>
          <a:prstGeom prst="rect">
            <a:avLst/>
          </a:prstGeom>
          <a:solidFill>
            <a:srgbClr val="D9A441"/>
          </a:solidFill>
          <a:ln>
            <a:noFill/>
          </a:ln>
        </p:spPr>
      </p:sp>
      <p:sp>
        <p:nvSpPr>
          <p:cNvPr id="6" name="sep-1"/>
          <p:cNvSpPr/>
          <p:nvPr/>
        </p:nvSpPr>
        <p:spPr>
          <a:xfrm>
            <a:off x="4051300" y="2133600"/>
            <a:ext cx="12700" cy="3403600"/>
          </a:xfrm>
          <a:prstGeom prst="rect">
            <a:avLst/>
          </a:prstGeom>
          <a:solidFill>
            <a:srgbClr val="C9C2B4"/>
          </a:solidFill>
          <a:ln>
            <a:noFill/>
          </a:ln>
        </p:spPr>
      </p:sp>
      <p:sp>
        <p:nvSpPr>
          <p:cNvPr id="7" name="sep-2"/>
          <p:cNvSpPr/>
          <p:nvPr/>
        </p:nvSpPr>
        <p:spPr>
          <a:xfrm>
            <a:off x="7810500" y="2133600"/>
            <a:ext cx="12700" cy="3403600"/>
          </a:xfrm>
          <a:prstGeom prst="rect">
            <a:avLst/>
          </a:prstGeom>
          <a:solidFill>
            <a:srgbClr val="C9C2B4"/>
          </a:solidFill>
          <a:ln>
            <a:noFill/>
          </a:ln>
        </p:spPr>
      </p:sp>
      <p:pic>
        <p:nvPicPr>
          <p:cNvPr id="8" name="p1-icon"/>
          <p:cNvPicPr/>
          <p:nvPr/>
        </p:nvPicPr>
        <p:blipFill>
          <a:blip r:embed="rIdImage6"/>
          <a:stretch>
            <a:fillRect/>
          </a:stretch>
        </p:blipFill>
        <p:spPr>
          <a:xfrm>
            <a:off x="1930400" y="19812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9" name="p1-num"/>
          <p:cNvSpPr txBox="1"/>
          <p:nvPr/>
        </p:nvSpPr>
        <p:spPr>
          <a:xfrm>
            <a:off x="609600" y="2946400"/>
            <a:ext cx="3454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000" spc="400" kern="0">
                <a:solidFill>
                  <a:srgbClr val="D9A441"/>
                </a:solidFill>
                <a:latin typeface="Jersey15"/>
                <a:ea typeface="Jersey15"/>
              </a:rPr>
              <a:t>01</a:t>
            </a:r>
            <a:endParaRPr lang="en-US" sz="2000"/>
          </a:p>
        </p:txBody>
      </p:sp>
      <p:sp>
        <p:nvSpPr>
          <p:cNvPr id="10" name="p1-title"/>
          <p:cNvSpPr txBox="1"/>
          <p:nvPr/>
        </p:nvSpPr>
        <p:spPr>
          <a:xfrm>
            <a:off x="609600" y="3302000"/>
            <a:ext cx="3454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4A3B2A"/>
                </a:solidFill>
                <a:latin typeface="MiSans"/>
                <a:ea typeface="MiSans"/>
              </a:rPr>
              <a:t>信息爆炸</a:t>
            </a:r>
            <a:endParaRPr lang="en-US" sz="1800"/>
          </a:p>
        </p:txBody>
      </p:sp>
      <p:sp>
        <p:nvSpPr>
          <p:cNvPr id="11" name="p1-desc"/>
          <p:cNvSpPr txBox="1"/>
          <p:nvPr/>
        </p:nvSpPr>
        <p:spPr>
          <a:xfrm>
            <a:off x="812800" y="3784600"/>
            <a:ext cx="3048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80000"/>
              </a:lnSpc>
            </a:pPr>
            <a:r>
              <a:rPr lang="en-US" sz="1200">
                <a:solidFill>
                  <a:srgbClr val="8B6B4A"/>
                </a:solidFill>
                <a:latin typeface="MiSans"/>
                <a:ea typeface="MiSans"/>
              </a:rPr>
              <a:t>资料与教程铺天盖地
不知道学什么、先学什么
收藏夹越堆越满，行动越来越少</a:t>
            </a:r>
            <a:endParaRPr lang="en-US" sz="1200"/>
          </a:p>
        </p:txBody>
      </p:sp>
      <p:pic>
        <p:nvPicPr>
          <p:cNvPr id="12" name="p2-icon"/>
          <p:cNvPicPr/>
          <p:nvPr/>
        </p:nvPicPr>
        <p:blipFill>
          <a:blip r:embed="rIdImage7"/>
          <a:stretch>
            <a:fillRect/>
          </a:stretch>
        </p:blipFill>
        <p:spPr>
          <a:xfrm>
            <a:off x="5689600" y="19812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3" name="p2-num"/>
          <p:cNvSpPr txBox="1"/>
          <p:nvPr/>
        </p:nvSpPr>
        <p:spPr>
          <a:xfrm>
            <a:off x="4368800" y="2946400"/>
            <a:ext cx="3454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000" spc="400" kern="0">
                <a:solidFill>
                  <a:srgbClr val="D9A441"/>
                </a:solidFill>
                <a:latin typeface="Jersey15"/>
                <a:ea typeface="Jersey15"/>
              </a:rPr>
              <a:t>02</a:t>
            </a:r>
            <a:endParaRPr lang="en-US" sz="2000"/>
          </a:p>
        </p:txBody>
      </p:sp>
      <p:sp>
        <p:nvSpPr>
          <p:cNvPr id="14" name="p2-title"/>
          <p:cNvSpPr txBox="1"/>
          <p:nvPr/>
        </p:nvSpPr>
        <p:spPr>
          <a:xfrm>
            <a:off x="4368800" y="3302000"/>
            <a:ext cx="3454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4A3B2A"/>
                </a:solidFill>
                <a:latin typeface="MiSans"/>
                <a:ea typeface="MiSans"/>
              </a:rPr>
              <a:t>目标模糊</a:t>
            </a:r>
            <a:endParaRPr lang="en-US" sz="1800"/>
          </a:p>
        </p:txBody>
      </p:sp>
      <p:sp>
        <p:nvSpPr>
          <p:cNvPr id="15" name="p2-desc"/>
          <p:cNvSpPr txBox="1"/>
          <p:nvPr/>
        </p:nvSpPr>
        <p:spPr>
          <a:xfrm>
            <a:off x="4572000" y="3784600"/>
            <a:ext cx="3048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80000"/>
              </a:lnSpc>
            </a:pPr>
            <a:r>
              <a:rPr lang="en-US" sz="1200">
                <a:solidFill>
                  <a:srgbClr val="8B6B4A"/>
                </a:solidFill>
                <a:latin typeface="MiSans"/>
                <a:ea typeface="MiSans"/>
              </a:rPr>
              <a:t>「想变好」太抽象
缺少清晰可执行的目标
更缺少一步一步的路径</a:t>
            </a:r>
            <a:endParaRPr lang="en-US" sz="1200"/>
          </a:p>
        </p:txBody>
      </p:sp>
      <p:pic>
        <p:nvPicPr>
          <p:cNvPr id="16" name="p3-icon"/>
          <p:cNvPicPr/>
          <p:nvPr/>
        </p:nvPicPr>
        <p:blipFill>
          <a:blip r:embed="rIdImage8"/>
          <a:stretch>
            <a:fillRect/>
          </a:stretch>
        </p:blipFill>
        <p:spPr>
          <a:xfrm>
            <a:off x="9448800" y="19812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7" name="p3-num"/>
          <p:cNvSpPr txBox="1"/>
          <p:nvPr/>
        </p:nvSpPr>
        <p:spPr>
          <a:xfrm>
            <a:off x="8128000" y="2946400"/>
            <a:ext cx="3454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000" spc="400" kern="0">
                <a:solidFill>
                  <a:srgbClr val="D9A441"/>
                </a:solidFill>
                <a:latin typeface="Jersey15"/>
                <a:ea typeface="Jersey15"/>
              </a:rPr>
              <a:t>03</a:t>
            </a:r>
            <a:endParaRPr lang="en-US" sz="2000"/>
          </a:p>
        </p:txBody>
      </p:sp>
      <p:sp>
        <p:nvSpPr>
          <p:cNvPr id="18" name="p3-title"/>
          <p:cNvSpPr txBox="1"/>
          <p:nvPr/>
        </p:nvSpPr>
        <p:spPr>
          <a:xfrm>
            <a:off x="8128000" y="3302000"/>
            <a:ext cx="3454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4A3B2A"/>
                </a:solidFill>
                <a:latin typeface="MiSans"/>
                <a:ea typeface="MiSans"/>
              </a:rPr>
              <a:t>学习没反馈</a:t>
            </a:r>
            <a:endParaRPr lang="en-US" sz="1800"/>
          </a:p>
        </p:txBody>
      </p:sp>
      <p:sp>
        <p:nvSpPr>
          <p:cNvPr id="19" name="p3-desc"/>
          <p:cNvSpPr txBox="1"/>
          <p:nvPr/>
        </p:nvSpPr>
        <p:spPr>
          <a:xfrm>
            <a:off x="8331200" y="3784600"/>
            <a:ext cx="3048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80000"/>
              </a:lnSpc>
            </a:pPr>
            <a:r>
              <a:rPr lang="en-US" sz="1200">
                <a:solidFill>
                  <a:srgbClr val="8B6B4A"/>
                </a:solidFill>
                <a:latin typeface="MiSans"/>
                <a:ea typeface="MiSans"/>
              </a:rPr>
              <a:t>努力看不到进度条
没有即时反馈与奖励
热情耗尽，难以坚持</a:t>
            </a:r>
            <a:endParaRPr lang="en-US" sz="1200"/>
          </a:p>
        </p:txBody>
      </p:sp>
      <p:sp>
        <p:nvSpPr>
          <p:cNvPr id="20" name="foot-note"/>
          <p:cNvSpPr txBox="1"/>
          <p:nvPr/>
        </p:nvSpPr>
        <p:spPr>
          <a:xfrm>
            <a:off x="609600" y="58674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B5544A"/>
                </a:solidFill>
                <a:latin typeface="精品点阵体"/>
                <a:ea typeface="精品点阵体"/>
              </a:rPr>
              <a:t>不是不努力，是缺一套「看得见进度」的成长系统</a:t>
            </a:r>
            <a:endParaRPr lang="en-US" sz="15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blipFill>
          <a:blip r:embed="rIdImage5"/>
          <a:srcRect t="21875" b="21875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rand"/>
          <p:cNvSpPr txBox="1"/>
          <p:nvPr/>
        </p:nvSpPr>
        <p:spPr>
          <a:xfrm>
            <a:off x="609600" y="2794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spc="300" kern="0">
                <a:solidFill>
                  <a:srgbClr val="8B6B4A"/>
                </a:solidFill>
                <a:latin typeface="Jersey15"/>
                <a:ea typeface="Jersey15"/>
              </a:rPr>
              <a:t>ZHIJIAN · LIFE RPG</a:t>
            </a:r>
            <a:endParaRPr lang="en-US" sz="1000"/>
          </a:p>
        </p:txBody>
      </p:sp>
      <p:sp>
        <p:nvSpPr>
          <p:cNvPr id="3" name="hdr-page"/>
          <p:cNvSpPr txBox="1"/>
          <p:nvPr/>
        </p:nvSpPr>
        <p:spPr>
          <a:xfrm>
            <a:off x="10058400" y="2794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000" spc="300" kern="0">
                <a:solidFill>
                  <a:srgbClr val="8B6B4A"/>
                </a:solidFill>
                <a:latin typeface="Jersey15"/>
                <a:ea typeface="Jersey15"/>
              </a:rPr>
              <a:t>03 / 09</a:t>
            </a:r>
            <a:endParaRPr lang="en-US" sz="1000"/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9652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800">
                <a:solidFill>
                  <a:srgbClr val="4A3B2A"/>
                </a:solidFill>
                <a:latin typeface="精品点阵体"/>
                <a:ea typeface="精品点阵体"/>
              </a:rPr>
              <a:t>产品理念 · 游戏化成长</a:t>
            </a:r>
            <a:endParaRPr lang="en-US" sz="2800"/>
          </a:p>
        </p:txBody>
      </p:sp>
      <p:sp>
        <p:nvSpPr>
          <p:cNvPr id="5" name="title-tick"/>
          <p:cNvSpPr/>
          <p:nvPr/>
        </p:nvSpPr>
        <p:spPr>
          <a:xfrm>
            <a:off x="635000" y="1270000"/>
            <a:ext cx="914400" cy="63500"/>
          </a:xfrm>
          <a:prstGeom prst="rect">
            <a:avLst/>
          </a:prstGeom>
          <a:solidFill>
            <a:srgbClr val="D9A441"/>
          </a:solidFill>
          <a:ln>
            <a:noFill/>
          </a:ln>
        </p:spPr>
      </p:sp>
      <p:sp>
        <p:nvSpPr>
          <p:cNvPr id="6" name="f-plate-a"/>
          <p:cNvSpPr/>
          <p:nvPr/>
        </p:nvSpPr>
        <p:spPr>
          <a:xfrm>
            <a:off x="1346200" y="2349500"/>
            <a:ext cx="2794000" cy="889000"/>
          </a:xfrm>
          <a:prstGeom prst="rect">
            <a:avLst/>
          </a:prstGeom>
          <a:solidFill>
            <a:srgbClr val="F2E8D5"/>
          </a:solidFill>
          <a:ln w="25400">
            <a:solidFill>
              <a:srgbClr val="4A3B2A"/>
            </a:solidFill>
          </a:ln>
        </p:spPr>
      </p:sp>
      <p:sp>
        <p:nvSpPr>
          <p:cNvPr id="7" name="f-text-a"/>
          <p:cNvSpPr txBox="1"/>
          <p:nvPr/>
        </p:nvSpPr>
        <p:spPr>
          <a:xfrm>
            <a:off x="1346200" y="2349500"/>
            <a:ext cx="279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200">
                <a:solidFill>
                  <a:srgbClr val="4A3B2A"/>
                </a:solidFill>
                <a:latin typeface="精品点阵体"/>
                <a:ea typeface="精品点阵体"/>
              </a:rPr>
              <a:t>游戏化成长</a:t>
            </a:r>
            <a:endParaRPr lang="en-US" sz="2200"/>
          </a:p>
        </p:txBody>
      </p:sp>
      <p:sp>
        <p:nvSpPr>
          <p:cNvPr id="8" name="f-eq"/>
          <p:cNvSpPr txBox="1"/>
          <p:nvPr/>
        </p:nvSpPr>
        <p:spPr>
          <a:xfrm>
            <a:off x="4140200" y="2349500"/>
            <a:ext cx="5588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3000" b="1">
                <a:solidFill>
                  <a:srgbClr val="B5544A"/>
                </a:solidFill>
                <a:latin typeface="MiSans"/>
                <a:ea typeface="MiSans"/>
              </a:rPr>
              <a:t>=</a:t>
            </a:r>
            <a:endParaRPr lang="en-US" sz="3000"/>
          </a:p>
        </p:txBody>
      </p:sp>
      <p:sp>
        <p:nvSpPr>
          <p:cNvPr id="9" name="f-plate-b"/>
          <p:cNvSpPr/>
          <p:nvPr/>
        </p:nvSpPr>
        <p:spPr>
          <a:xfrm>
            <a:off x="4699000" y="2349500"/>
            <a:ext cx="2794000" cy="889000"/>
          </a:xfrm>
          <a:prstGeom prst="rect">
            <a:avLst/>
          </a:prstGeom>
          <a:solidFill>
            <a:srgbClr val="F2E8D5"/>
          </a:solidFill>
          <a:ln w="25400">
            <a:solidFill>
              <a:srgbClr val="4A3B2A"/>
            </a:solidFill>
          </a:ln>
        </p:spPr>
      </p:sp>
      <p:sp>
        <p:nvSpPr>
          <p:cNvPr id="10" name="f-text-b"/>
          <p:cNvSpPr txBox="1"/>
          <p:nvPr/>
        </p:nvSpPr>
        <p:spPr>
          <a:xfrm>
            <a:off x="4699000" y="2349500"/>
            <a:ext cx="279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200">
                <a:solidFill>
                  <a:srgbClr val="4A3B2A"/>
                </a:solidFill>
                <a:latin typeface="精品点阵体"/>
                <a:ea typeface="精品点阵体"/>
              </a:rPr>
              <a:t>目标拆解</a:t>
            </a:r>
            <a:endParaRPr lang="en-US" sz="2200"/>
          </a:p>
        </p:txBody>
      </p:sp>
      <p:sp>
        <p:nvSpPr>
          <p:cNvPr id="11" name="f-mul"/>
          <p:cNvSpPr txBox="1"/>
          <p:nvPr/>
        </p:nvSpPr>
        <p:spPr>
          <a:xfrm>
            <a:off x="7493000" y="2349500"/>
            <a:ext cx="5588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3000" b="1">
                <a:solidFill>
                  <a:srgbClr val="D9A441"/>
                </a:solidFill>
                <a:latin typeface="MiSans"/>
                <a:ea typeface="MiSans"/>
              </a:rPr>
              <a:t>×</a:t>
            </a:r>
            <a:endParaRPr lang="en-US" sz="3000"/>
          </a:p>
        </p:txBody>
      </p:sp>
      <p:sp>
        <p:nvSpPr>
          <p:cNvPr id="12" name="f-plate-c"/>
          <p:cNvSpPr/>
          <p:nvPr/>
        </p:nvSpPr>
        <p:spPr>
          <a:xfrm>
            <a:off x="8051800" y="2349500"/>
            <a:ext cx="2794000" cy="889000"/>
          </a:xfrm>
          <a:prstGeom prst="rect">
            <a:avLst/>
          </a:prstGeom>
          <a:solidFill>
            <a:srgbClr val="F2E8D5"/>
          </a:solidFill>
          <a:ln w="25400">
            <a:solidFill>
              <a:srgbClr val="4A3B2A"/>
            </a:solidFill>
          </a:ln>
        </p:spPr>
      </p:sp>
      <p:sp>
        <p:nvSpPr>
          <p:cNvPr id="13" name="f-text-c"/>
          <p:cNvSpPr txBox="1"/>
          <p:nvPr/>
        </p:nvSpPr>
        <p:spPr>
          <a:xfrm>
            <a:off x="8051800" y="2349500"/>
            <a:ext cx="279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200">
                <a:solidFill>
                  <a:srgbClr val="4A3B2A"/>
                </a:solidFill>
                <a:latin typeface="精品点阵体"/>
                <a:ea typeface="精品点阵体"/>
              </a:rPr>
              <a:t>RPG 即时反馈</a:t>
            </a:r>
            <a:endParaRPr lang="en-US" sz="2200"/>
          </a:p>
        </p:txBody>
      </p:sp>
      <p:pic>
        <p:nvPicPr>
          <p:cNvPr id="14" name="divider"/>
          <p:cNvPicPr/>
          <p:nvPr/>
        </p:nvPicPr>
        <p:blipFill>
          <a:blip r:embed="rIdImage9"/>
          <a:stretch>
            <a:fillRect/>
          </a:stretch>
        </p:blipFill>
        <p:spPr>
          <a:xfrm>
            <a:off x="4470400" y="3454400"/>
            <a:ext cx="3251200" cy="508000"/>
          </a:xfrm>
          <a:prstGeom prst="rect">
            <a:avLst/>
          </a:prstGeom>
          <a:ln>
            <a:noFill/>
          </a:ln>
        </p:spPr>
      </p:pic>
      <p:sp>
        <p:nvSpPr>
          <p:cNvPr id="15" name="intro"/>
          <p:cNvSpPr txBox="1"/>
          <p:nvPr/>
        </p:nvSpPr>
        <p:spPr>
          <a:xfrm>
            <a:off x="1651000" y="4089400"/>
            <a:ext cx="8890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60000"/>
              </a:lnSpc>
            </a:pPr>
            <a:r>
              <a:rPr lang="en-US" sz="1500">
                <a:solidFill>
                  <a:srgbClr val="4A3B2A"/>
                </a:solidFill>
                <a:latin typeface="MiSans"/>
                <a:ea typeface="MiSans"/>
              </a:rPr>
              <a:t>职见未来把人生目标拆成一个个小任务，用游戏的方式陪你升级——帮助青少年在 AI 时代更快学习知识、实现自我成长。</a:t>
            </a:r>
            <a:endParaRPr lang="en-US" sz="1500"/>
          </a:p>
        </p:txBody>
      </p:sp>
      <p:pic>
        <p:nvPicPr>
          <p:cNvPr id="16" name="scholar"/>
          <p:cNvPicPr/>
          <p:nvPr/>
        </p:nvPicPr>
        <p:blipFill>
          <a:blip r:embed="rIdImage10"/>
          <a:stretch>
            <a:fillRect/>
          </a:stretch>
        </p:blipFill>
        <p:spPr>
          <a:xfrm>
            <a:off x="2133600" y="5207000"/>
            <a:ext cx="1117600" cy="1117600"/>
          </a:xfrm>
          <a:prstGeom prst="rect">
            <a:avLst/>
          </a:prstGeom>
          <a:ln>
            <a:noFill/>
          </a:ln>
        </p:spPr>
      </p:pic>
      <p:pic>
        <p:nvPicPr>
          <p:cNvPr id="17" name="bubble"/>
          <p:cNvPicPr/>
          <p:nvPr/>
        </p:nvPicPr>
        <p:blipFill>
          <a:blip r:embed="rIdImage11"/>
          <a:stretch>
            <a:fillRect/>
          </a:stretch>
        </p:blipFill>
        <p:spPr>
          <a:xfrm>
            <a:off x="3403600" y="5181600"/>
            <a:ext cx="2413000" cy="1016000"/>
          </a:xfrm>
          <a:prstGeom prst="rect">
            <a:avLst/>
          </a:prstGeom>
          <a:ln>
            <a:noFill/>
          </a:ln>
        </p:spPr>
      </p:pic>
      <p:sp>
        <p:nvSpPr>
          <p:cNvPr id="18" name="bubble-text"/>
          <p:cNvSpPr txBox="1"/>
          <p:nvPr/>
        </p:nvSpPr>
        <p:spPr>
          <a:xfrm>
            <a:off x="3581400" y="5384800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1200">
                <a:solidFill>
                  <a:srgbClr val="4A3B2A"/>
                </a:solidFill>
                <a:latin typeface="MiSans"/>
                <a:ea typeface="MiSans"/>
              </a:rPr>
              <a:t>出发吧，少年！</a:t>
            </a:r>
            <a:endParaRPr lang="en-US" sz="1200"/>
          </a:p>
        </p:txBody>
      </p:sp>
      <p:pic>
        <p:nvPicPr>
          <p:cNvPr id="19" name="lvup-icon"/>
          <p:cNvPicPr/>
          <p:nvPr/>
        </p:nvPicPr>
        <p:blipFill>
          <a:blip r:embed="rIdImage12"/>
          <a:stretch>
            <a:fillRect/>
          </a:stretch>
        </p:blipFill>
        <p:spPr>
          <a:xfrm>
            <a:off x="9042400" y="5257800"/>
            <a:ext cx="609600" cy="609600"/>
          </a:xfrm>
          <a:prstGeom prst="rect">
            <a:avLst/>
          </a:prstGeom>
          <a:ln>
            <a:noFill/>
          </a:ln>
        </p:spPr>
      </p:pic>
      <p:sp>
        <p:nvSpPr>
          <p:cNvPr id="20" name="lvup-label"/>
          <p:cNvSpPr txBox="1"/>
          <p:nvPr/>
        </p:nvSpPr>
        <p:spPr>
          <a:xfrm>
            <a:off x="8763000" y="5918200"/>
            <a:ext cx="1168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 spc="300" kern="0">
                <a:solidFill>
                  <a:srgbClr val="D9A441"/>
                </a:solidFill>
                <a:latin typeface="Jersey15"/>
                <a:ea typeface="Jersey15"/>
              </a:rPr>
              <a:t>LEVEL UP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blipFill>
          <a:blip r:embed="rIdImage13"/>
          <a:srcRect t="21875" b="21875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rand"/>
          <p:cNvSpPr txBox="1"/>
          <p:nvPr/>
        </p:nvSpPr>
        <p:spPr>
          <a:xfrm>
            <a:off x="609600" y="2794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spc="300" kern="0">
                <a:solidFill>
                  <a:srgbClr val="8B6B4A"/>
                </a:solidFill>
                <a:latin typeface="Jersey15"/>
                <a:ea typeface="Jersey15"/>
              </a:rPr>
              <a:t>ZHIJIAN · LIFE RPG</a:t>
            </a:r>
            <a:endParaRPr lang="en-US" sz="1000"/>
          </a:p>
        </p:txBody>
      </p:sp>
      <p:sp>
        <p:nvSpPr>
          <p:cNvPr id="3" name="hdr-page"/>
          <p:cNvSpPr txBox="1"/>
          <p:nvPr/>
        </p:nvSpPr>
        <p:spPr>
          <a:xfrm>
            <a:off x="10058400" y="2794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000" spc="300" kern="0">
                <a:solidFill>
                  <a:srgbClr val="8B6B4A"/>
                </a:solidFill>
                <a:latin typeface="Jersey15"/>
                <a:ea typeface="Jersey15"/>
              </a:rPr>
              <a:t>04 / 09</a:t>
            </a:r>
            <a:endParaRPr lang="en-US" sz="1000"/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9652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800">
                <a:solidFill>
                  <a:srgbClr val="4A3B2A"/>
                </a:solidFill>
                <a:latin typeface="精品点阵体"/>
                <a:ea typeface="精品点阵体"/>
              </a:rPr>
              <a:t>五大核心功能 · 冒险地图</a:t>
            </a:r>
            <a:endParaRPr lang="en-US" sz="2800"/>
          </a:p>
        </p:txBody>
      </p:sp>
      <p:sp>
        <p:nvSpPr>
          <p:cNvPr id="5" name="title-tick"/>
          <p:cNvSpPr/>
          <p:nvPr/>
        </p:nvSpPr>
        <p:spPr>
          <a:xfrm>
            <a:off x="635000" y="1270000"/>
            <a:ext cx="914400" cy="63500"/>
          </a:xfrm>
          <a:prstGeom prst="rect">
            <a:avLst/>
          </a:prstGeom>
          <a:solidFill>
            <a:srgbClr val="D9A441"/>
          </a:solidFill>
          <a:ln>
            <a:noFill/>
          </a:ln>
        </p:spPr>
      </p:sp>
      <p:sp>
        <p:nvSpPr>
          <p:cNvPr id="6" name="c1-bg"/>
          <p:cNvSpPr/>
          <p:nvPr/>
        </p:nvSpPr>
        <p:spPr>
          <a:xfrm>
            <a:off x="508000" y="2184400"/>
            <a:ext cx="2032000" cy="3352800"/>
          </a:xfrm>
          <a:prstGeom prst="rect">
            <a:avLst/>
          </a:prstGeom>
          <a:solidFill>
            <a:srgbClr val="F2E8D5"/>
          </a:solidFill>
          <a:ln w="25400">
            <a:solidFill>
              <a:srgbClr val="4A3B2A"/>
            </a:solidFill>
          </a:ln>
        </p:spPr>
      </p:sp>
      <p:sp>
        <p:nvSpPr>
          <p:cNvPr id="7" name="c1-num"/>
          <p:cNvSpPr txBox="1"/>
          <p:nvPr/>
        </p:nvSpPr>
        <p:spPr>
          <a:xfrm>
            <a:off x="508000" y="23622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spc="400" kern="0">
                <a:solidFill>
                  <a:srgbClr val="D9A441"/>
                </a:solidFill>
                <a:latin typeface="Jersey15"/>
                <a:ea typeface="Jersey15"/>
              </a:rPr>
              <a:t>01</a:t>
            </a:r>
            <a:endParaRPr lang="en-US" sz="1500"/>
          </a:p>
        </p:txBody>
      </p:sp>
      <p:pic>
        <p:nvPicPr>
          <p:cNvPr id="8" name="c1-icon"/>
          <p:cNvPicPr/>
          <p:nvPr/>
        </p:nvPicPr>
        <p:blipFill>
          <a:blip r:embed="rIdImage14"/>
          <a:stretch>
            <a:fillRect/>
          </a:stretch>
        </p:blipFill>
        <p:spPr>
          <a:xfrm>
            <a:off x="1117600" y="27686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9" name="c1-name"/>
          <p:cNvSpPr txBox="1"/>
          <p:nvPr/>
        </p:nvSpPr>
        <p:spPr>
          <a:xfrm>
            <a:off x="584200" y="3759200"/>
            <a:ext cx="1879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4A3B2A"/>
                </a:solidFill>
                <a:latin typeface="精品点阵体"/>
                <a:ea typeface="精品点阵体"/>
              </a:rPr>
              <a:t>成就树</a:t>
            </a:r>
            <a:endParaRPr lang="en-US" sz="1600"/>
          </a:p>
        </p:txBody>
      </p:sp>
      <p:sp>
        <p:nvSpPr>
          <p:cNvPr id="10" name="c1-desc"/>
          <p:cNvSpPr txBox="1"/>
          <p:nvPr/>
        </p:nvSpPr>
        <p:spPr>
          <a:xfrm>
            <a:off x="635000" y="4191000"/>
            <a:ext cx="177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70000"/>
              </a:lnSpc>
            </a:pPr>
            <a:r>
              <a:rPr lang="en-US" sz="1000">
                <a:solidFill>
                  <a:srgbClr val="8B6B4A"/>
                </a:solidFill>
                <a:latin typeface="MiSans"/>
                <a:ea typeface="MiSans"/>
              </a:rPr>
              <a:t>AI 联网拆解目标
20+ 小步任务节点</a:t>
            </a:r>
            <a:endParaRPr lang="en-US" sz="1000"/>
          </a:p>
        </p:txBody>
      </p:sp>
      <p:sp>
        <p:nvSpPr>
          <p:cNvPr id="11" name="c2-bg"/>
          <p:cNvSpPr/>
          <p:nvPr/>
        </p:nvSpPr>
        <p:spPr>
          <a:xfrm>
            <a:off x="2794000" y="2184400"/>
            <a:ext cx="2032000" cy="3352800"/>
          </a:xfrm>
          <a:prstGeom prst="rect">
            <a:avLst/>
          </a:prstGeom>
          <a:solidFill>
            <a:srgbClr val="F2E8D5"/>
          </a:solidFill>
          <a:ln w="25400">
            <a:solidFill>
              <a:srgbClr val="4A3B2A"/>
            </a:solidFill>
          </a:ln>
        </p:spPr>
      </p:sp>
      <p:sp>
        <p:nvSpPr>
          <p:cNvPr id="12" name="c2-num"/>
          <p:cNvSpPr txBox="1"/>
          <p:nvPr/>
        </p:nvSpPr>
        <p:spPr>
          <a:xfrm>
            <a:off x="2794000" y="23622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spc="400" kern="0">
                <a:solidFill>
                  <a:srgbClr val="D9A441"/>
                </a:solidFill>
                <a:latin typeface="Jersey15"/>
                <a:ea typeface="Jersey15"/>
              </a:rPr>
              <a:t>02</a:t>
            </a:r>
            <a:endParaRPr lang="en-US" sz="1500"/>
          </a:p>
        </p:txBody>
      </p:sp>
      <p:pic>
        <p:nvPicPr>
          <p:cNvPr id="13" name="c2-icon"/>
          <p:cNvPicPr/>
          <p:nvPr/>
        </p:nvPicPr>
        <p:blipFill>
          <a:blip r:embed="rIdImage15"/>
          <a:stretch>
            <a:fillRect/>
          </a:stretch>
        </p:blipFill>
        <p:spPr>
          <a:xfrm>
            <a:off x="3403600" y="27686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4" name="c2-name"/>
          <p:cNvSpPr txBox="1"/>
          <p:nvPr/>
        </p:nvSpPr>
        <p:spPr>
          <a:xfrm>
            <a:off x="2870200" y="3759200"/>
            <a:ext cx="1879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4A3B2A"/>
                </a:solidFill>
                <a:latin typeface="精品点阵体"/>
                <a:ea typeface="精品点阵体"/>
              </a:rPr>
              <a:t>魔法日记</a:t>
            </a:r>
            <a:endParaRPr lang="en-US" sz="1600"/>
          </a:p>
        </p:txBody>
      </p:sp>
      <p:sp>
        <p:nvSpPr>
          <p:cNvPr id="15" name="c2-desc"/>
          <p:cNvSpPr txBox="1"/>
          <p:nvPr/>
        </p:nvSpPr>
        <p:spPr>
          <a:xfrm>
            <a:off x="2921000" y="4191000"/>
            <a:ext cx="177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70000"/>
              </a:lnSpc>
            </a:pPr>
            <a:r>
              <a:rPr lang="en-US" sz="1000">
                <a:solidFill>
                  <a:srgbClr val="8B6B4A"/>
                </a:solidFill>
                <a:latin typeface="MiSans"/>
                <a:ea typeface="MiSans"/>
              </a:rPr>
              <a:t>写下的字会消失
AI 以墨水浮现回应</a:t>
            </a:r>
            <a:endParaRPr lang="en-US" sz="1000"/>
          </a:p>
        </p:txBody>
      </p:sp>
      <p:sp>
        <p:nvSpPr>
          <p:cNvPr id="16" name="c3-bg"/>
          <p:cNvSpPr/>
          <p:nvPr/>
        </p:nvSpPr>
        <p:spPr>
          <a:xfrm>
            <a:off x="5080000" y="2184400"/>
            <a:ext cx="2032000" cy="3352800"/>
          </a:xfrm>
          <a:prstGeom prst="rect">
            <a:avLst/>
          </a:prstGeom>
          <a:solidFill>
            <a:srgbClr val="F2E8D5"/>
          </a:solidFill>
          <a:ln w="25400">
            <a:solidFill>
              <a:srgbClr val="4A3B2A"/>
            </a:solidFill>
          </a:ln>
        </p:spPr>
      </p:sp>
      <p:sp>
        <p:nvSpPr>
          <p:cNvPr id="17" name="c3-num"/>
          <p:cNvSpPr txBox="1"/>
          <p:nvPr/>
        </p:nvSpPr>
        <p:spPr>
          <a:xfrm>
            <a:off x="5080000" y="23622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spc="400" kern="0">
                <a:solidFill>
                  <a:srgbClr val="D9A441"/>
                </a:solidFill>
                <a:latin typeface="Jersey15"/>
                <a:ea typeface="Jersey15"/>
              </a:rPr>
              <a:t>03</a:t>
            </a:r>
            <a:endParaRPr lang="en-US" sz="1500"/>
          </a:p>
        </p:txBody>
      </p:sp>
      <p:pic>
        <p:nvPicPr>
          <p:cNvPr id="18" name="c3-icon"/>
          <p:cNvPicPr/>
          <p:nvPr/>
        </p:nvPicPr>
        <p:blipFill>
          <a:blip r:embed="rIdImage16"/>
          <a:stretch>
            <a:fillRect/>
          </a:stretch>
        </p:blipFill>
        <p:spPr>
          <a:xfrm>
            <a:off x="5689600" y="27686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9" name="c3-name"/>
          <p:cNvSpPr txBox="1"/>
          <p:nvPr/>
        </p:nvSpPr>
        <p:spPr>
          <a:xfrm>
            <a:off x="5156200" y="3759200"/>
            <a:ext cx="1879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4A3B2A"/>
                </a:solidFill>
                <a:latin typeface="精品点阵体"/>
                <a:ea typeface="精品点阵体"/>
              </a:rPr>
              <a:t>职见小镇</a:t>
            </a:r>
            <a:endParaRPr lang="en-US" sz="1600"/>
          </a:p>
        </p:txBody>
      </p:sp>
      <p:sp>
        <p:nvSpPr>
          <p:cNvPr id="20" name="c3-desc"/>
          <p:cNvSpPr txBox="1"/>
          <p:nvPr/>
        </p:nvSpPr>
        <p:spPr>
          <a:xfrm>
            <a:off x="5207000" y="4191000"/>
            <a:ext cx="177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70000"/>
              </a:lnSpc>
            </a:pPr>
            <a:r>
              <a:rPr lang="en-US" sz="1000">
                <a:solidFill>
                  <a:srgbClr val="8B6B4A"/>
                </a:solidFill>
                <a:latin typeface="MiSans"/>
                <a:ea typeface="MiSans"/>
              </a:rPr>
              <a:t>NPC 好感与委托
种田养猫赚金币</a:t>
            </a:r>
            <a:endParaRPr lang="en-US" sz="1000"/>
          </a:p>
        </p:txBody>
      </p:sp>
      <p:sp>
        <p:nvSpPr>
          <p:cNvPr id="21" name="c4-bg"/>
          <p:cNvSpPr/>
          <p:nvPr/>
        </p:nvSpPr>
        <p:spPr>
          <a:xfrm>
            <a:off x="7366000" y="2184400"/>
            <a:ext cx="2032000" cy="3352800"/>
          </a:xfrm>
          <a:prstGeom prst="rect">
            <a:avLst/>
          </a:prstGeom>
          <a:solidFill>
            <a:srgbClr val="F2E8D5"/>
          </a:solidFill>
          <a:ln w="25400">
            <a:solidFill>
              <a:srgbClr val="4A3B2A"/>
            </a:solidFill>
          </a:ln>
        </p:spPr>
      </p:sp>
      <p:sp>
        <p:nvSpPr>
          <p:cNvPr id="22" name="c4-num"/>
          <p:cNvSpPr txBox="1"/>
          <p:nvPr/>
        </p:nvSpPr>
        <p:spPr>
          <a:xfrm>
            <a:off x="7366000" y="23622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spc="400" kern="0">
                <a:solidFill>
                  <a:srgbClr val="D9A441"/>
                </a:solidFill>
                <a:latin typeface="Jersey15"/>
                <a:ea typeface="Jersey15"/>
              </a:rPr>
              <a:t>04</a:t>
            </a:r>
            <a:endParaRPr lang="en-US" sz="1500"/>
          </a:p>
        </p:txBody>
      </p:sp>
      <p:pic>
        <p:nvPicPr>
          <p:cNvPr id="23" name="c4-icon"/>
          <p:cNvPicPr/>
          <p:nvPr/>
        </p:nvPicPr>
        <p:blipFill>
          <a:blip r:embed="rIdImage6"/>
          <a:stretch>
            <a:fillRect/>
          </a:stretch>
        </p:blipFill>
        <p:spPr>
          <a:xfrm>
            <a:off x="7975600" y="27686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24" name="c4-name"/>
          <p:cNvSpPr txBox="1"/>
          <p:nvPr/>
        </p:nvSpPr>
        <p:spPr>
          <a:xfrm>
            <a:off x="7442200" y="3759200"/>
            <a:ext cx="1879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4A3B2A"/>
                </a:solidFill>
                <a:latin typeface="精品点阵体"/>
                <a:ea typeface="精品点阵体"/>
              </a:rPr>
              <a:t>冒险面板</a:t>
            </a:r>
            <a:endParaRPr lang="en-US" sz="1600"/>
          </a:p>
        </p:txBody>
      </p:sp>
      <p:sp>
        <p:nvSpPr>
          <p:cNvPr id="25" name="c4-desc"/>
          <p:cNvSpPr txBox="1"/>
          <p:nvPr/>
        </p:nvSpPr>
        <p:spPr>
          <a:xfrm>
            <a:off x="7493000" y="4191000"/>
            <a:ext cx="177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70000"/>
              </a:lnSpc>
            </a:pPr>
            <a:r>
              <a:rPr lang="en-US" sz="1000">
                <a:solidFill>
                  <a:srgbClr val="8B6B4A"/>
                </a:solidFill>
                <a:latin typeface="MiSans"/>
                <a:ea typeface="MiSans"/>
              </a:rPr>
              <a:t>今日目标一目了然
撕日历 Deadline</a:t>
            </a:r>
            <a:endParaRPr lang="en-US" sz="1000"/>
          </a:p>
        </p:txBody>
      </p:sp>
      <p:sp>
        <p:nvSpPr>
          <p:cNvPr id="26" name="c5-bg"/>
          <p:cNvSpPr/>
          <p:nvPr/>
        </p:nvSpPr>
        <p:spPr>
          <a:xfrm>
            <a:off x="9652000" y="2184400"/>
            <a:ext cx="2032000" cy="3352800"/>
          </a:xfrm>
          <a:prstGeom prst="rect">
            <a:avLst/>
          </a:prstGeom>
          <a:solidFill>
            <a:srgbClr val="F2E8D5"/>
          </a:solidFill>
          <a:ln w="25400">
            <a:solidFill>
              <a:srgbClr val="4A3B2A"/>
            </a:solidFill>
          </a:ln>
        </p:spPr>
      </p:sp>
      <p:sp>
        <p:nvSpPr>
          <p:cNvPr id="27" name="c5-num"/>
          <p:cNvSpPr txBox="1"/>
          <p:nvPr/>
        </p:nvSpPr>
        <p:spPr>
          <a:xfrm>
            <a:off x="9652000" y="23622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spc="400" kern="0">
                <a:solidFill>
                  <a:srgbClr val="D9A441"/>
                </a:solidFill>
                <a:latin typeface="Jersey15"/>
                <a:ea typeface="Jersey15"/>
              </a:rPr>
              <a:t>05</a:t>
            </a:r>
            <a:endParaRPr lang="en-US" sz="1500"/>
          </a:p>
        </p:txBody>
      </p:sp>
      <p:pic>
        <p:nvPicPr>
          <p:cNvPr id="28" name="c5-icon"/>
          <p:cNvPicPr/>
          <p:nvPr/>
        </p:nvPicPr>
        <p:blipFill>
          <a:blip r:embed="rIdImage17"/>
          <a:stretch>
            <a:fillRect/>
          </a:stretch>
        </p:blipFill>
        <p:spPr>
          <a:xfrm>
            <a:off x="10261600" y="27686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29" name="c5-name"/>
          <p:cNvSpPr txBox="1"/>
          <p:nvPr/>
        </p:nvSpPr>
        <p:spPr>
          <a:xfrm>
            <a:off x="9728200" y="3759200"/>
            <a:ext cx="1879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4A3B2A"/>
                </a:solidFill>
                <a:latin typeface="精品点阵体"/>
                <a:ea typeface="精品点阵体"/>
              </a:rPr>
              <a:t>自动简历</a:t>
            </a:r>
            <a:endParaRPr lang="en-US" sz="1600"/>
          </a:p>
        </p:txBody>
      </p:sp>
      <p:sp>
        <p:nvSpPr>
          <p:cNvPr id="30" name="c5-desc"/>
          <p:cNvSpPr txBox="1"/>
          <p:nvPr/>
        </p:nvSpPr>
        <p:spPr>
          <a:xfrm>
            <a:off x="9779000" y="4191000"/>
            <a:ext cx="177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70000"/>
              </a:lnSpc>
            </a:pPr>
            <a:r>
              <a:rPr lang="en-US" sz="1000">
                <a:solidFill>
                  <a:srgbClr val="8B6B4A"/>
                </a:solidFill>
                <a:latin typeface="MiSans"/>
                <a:ea typeface="MiSans"/>
              </a:rPr>
              <a:t>AI 整理成长记录
一键生成简历</a:t>
            </a:r>
            <a:endParaRPr lang="en-US" sz="1000"/>
          </a:p>
        </p:txBody>
      </p:sp>
      <p:sp>
        <p:nvSpPr>
          <p:cNvPr id="31" name="foot-note"/>
          <p:cNvSpPr txBox="1"/>
          <p:nvPr/>
        </p:nvSpPr>
        <p:spPr>
          <a:xfrm>
            <a:off x="609600" y="58928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4A3B2A"/>
                </a:solidFill>
                <a:latin typeface="精品点阵体"/>
                <a:ea typeface="精品点阵体"/>
              </a:rPr>
              <a:t>一张地图，五种成长玩法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blipFill>
          <a:blip r:embed="rIdImage5"/>
          <a:srcRect t="21875" b="21875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rand"/>
          <p:cNvSpPr txBox="1"/>
          <p:nvPr/>
        </p:nvSpPr>
        <p:spPr>
          <a:xfrm>
            <a:off x="609600" y="2794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spc="300" kern="0">
                <a:solidFill>
                  <a:srgbClr val="8B6B4A"/>
                </a:solidFill>
                <a:latin typeface="Jersey15"/>
                <a:ea typeface="Jersey15"/>
              </a:rPr>
              <a:t>ZHIJIAN · LIFE RPG</a:t>
            </a:r>
            <a:endParaRPr lang="en-US" sz="1000"/>
          </a:p>
        </p:txBody>
      </p:sp>
      <p:sp>
        <p:nvSpPr>
          <p:cNvPr id="3" name="hdr-page"/>
          <p:cNvSpPr txBox="1"/>
          <p:nvPr/>
        </p:nvSpPr>
        <p:spPr>
          <a:xfrm>
            <a:off x="10058400" y="2794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000" spc="300" kern="0">
                <a:solidFill>
                  <a:srgbClr val="8B6B4A"/>
                </a:solidFill>
                <a:latin typeface="Jersey15"/>
                <a:ea typeface="Jersey15"/>
              </a:rPr>
              <a:t>05 / 09</a:t>
            </a:r>
            <a:endParaRPr lang="en-US" sz="1000"/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9652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800">
                <a:solidFill>
                  <a:srgbClr val="4A3B2A"/>
                </a:solidFill>
                <a:latin typeface="精品点阵体"/>
                <a:ea typeface="精品点阵体"/>
              </a:rPr>
              <a:t>功能 ① · AI 成就树</a:t>
            </a:r>
            <a:endParaRPr lang="en-US" sz="2800"/>
          </a:p>
        </p:txBody>
      </p:sp>
      <p:sp>
        <p:nvSpPr>
          <p:cNvPr id="5" name="title-tick"/>
          <p:cNvSpPr/>
          <p:nvPr/>
        </p:nvSpPr>
        <p:spPr>
          <a:xfrm>
            <a:off x="635000" y="1270000"/>
            <a:ext cx="914400" cy="63500"/>
          </a:xfrm>
          <a:prstGeom prst="rect">
            <a:avLst/>
          </a:prstGeom>
          <a:solidFill>
            <a:srgbClr val="D9A441"/>
          </a:solidFill>
          <a:ln>
            <a:noFill/>
          </a:ln>
        </p:spPr>
      </p:sp>
      <p:pic>
        <p:nvPicPr>
          <p:cNvPr id="6" name="feat-icon"/>
          <p:cNvPicPr/>
          <p:nvPr/>
        </p:nvPicPr>
        <p:blipFill>
          <a:blip r:embed="rIdImage14"/>
          <a:stretch>
            <a:fillRect/>
          </a:stretch>
        </p:blipFill>
        <p:spPr>
          <a:xfrm>
            <a:off x="609600" y="1727200"/>
            <a:ext cx="711200" cy="711200"/>
          </a:xfrm>
          <a:prstGeom prst="rect">
            <a:avLst/>
          </a:prstGeom>
          <a:ln>
            <a:noFill/>
          </a:ln>
        </p:spPr>
      </p:pic>
      <p:sp>
        <p:nvSpPr>
          <p:cNvPr id="7" name="big-num"/>
          <p:cNvSpPr txBox="1"/>
          <p:nvPr/>
        </p:nvSpPr>
        <p:spPr>
          <a:xfrm>
            <a:off x="609600" y="2540000"/>
            <a:ext cx="1651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4000">
                <a:solidFill>
                  <a:srgbClr val="D9A441"/>
                </a:solidFill>
                <a:latin typeface="Jersey15"/>
                <a:ea typeface="Jersey15"/>
              </a:rPr>
              <a:t>20+</a:t>
            </a:r>
            <a:endParaRPr lang="en-US" sz="4000"/>
          </a:p>
        </p:txBody>
      </p:sp>
      <p:sp>
        <p:nvSpPr>
          <p:cNvPr id="8" name="big-num-label"/>
          <p:cNvSpPr txBox="1"/>
          <p:nvPr/>
        </p:nvSpPr>
        <p:spPr>
          <a:xfrm>
            <a:off x="1930400" y="27178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4A3B2A"/>
                </a:solidFill>
                <a:latin typeface="MiSans"/>
                <a:ea typeface="MiSans"/>
              </a:rPr>
              <a:t>个小步任务节点</a:t>
            </a:r>
            <a:endParaRPr lang="en-US" sz="1300"/>
          </a:p>
        </p:txBody>
      </p:sp>
      <p:sp>
        <p:nvSpPr>
          <p:cNvPr id="9" name="feat-list"/>
          <p:cNvSpPr txBox="1"/>
          <p:nvPr/>
        </p:nvSpPr>
        <p:spPr>
          <a:xfrm>
            <a:off x="609600" y="3403600"/>
            <a:ext cx="5080000" cy="157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200000"/>
              </a:lnSpc>
            </a:pPr>
            <a:r>
              <a:rPr lang="en-US" sz="1400">
                <a:solidFill>
                  <a:srgbClr val="B5544A"/>
                </a:solidFill>
                <a:latin typeface="MiSans"/>
                <a:ea typeface="MiSans"/>
              </a:rPr>
              <a:t>▸</a:t>
            </a:r>
            <a:r>
              <a:rPr lang="en-US" sz="1400">
                <a:solidFill>
                  <a:srgbClr val="4A3B2A"/>
                </a:solidFill>
                <a:latin typeface="MiSans"/>
                <a:ea typeface="MiSans"/>
              </a:rPr>
              <a:t> 输入人生目标：升学、技能、作品集……</a:t>
            </a:r>
            <a:endParaRPr lang="en-US" sz="1400"/>
          </a:p>
          <a:p>
            <a:pPr algn="l">
              <a:lnSpc>
                <a:spcPct val="200000"/>
              </a:lnSpc>
            </a:pPr>
            <a:r>
              <a:rPr lang="en-US" sz="1400">
                <a:solidFill>
                  <a:srgbClr val="B5544A"/>
                </a:solidFill>
                <a:latin typeface="MiSans"/>
                <a:ea typeface="MiSans"/>
              </a:rPr>
              <a:t>▸</a:t>
            </a:r>
            <a:r>
              <a:rPr lang="en-US" sz="1400">
                <a:solidFill>
                  <a:srgbClr val="4A3B2A"/>
                </a:solidFill>
                <a:latin typeface="MiSans"/>
                <a:ea typeface="MiSans"/>
              </a:rPr>
              <a:t> AI 联网搜索真实参考，大模型拆解任务</a:t>
            </a:r>
            <a:endParaRPr lang="en-US" sz="1400"/>
          </a:p>
          <a:p>
            <a:pPr algn="l">
              <a:lnSpc>
                <a:spcPct val="200000"/>
              </a:lnSpc>
            </a:pPr>
            <a:r>
              <a:rPr lang="en-US" sz="1400">
                <a:solidFill>
                  <a:srgbClr val="B5544A"/>
                </a:solidFill>
                <a:latin typeface="MiSans"/>
                <a:ea typeface="MiSans"/>
              </a:rPr>
              <a:t>▸</a:t>
            </a:r>
            <a:r>
              <a:rPr lang="en-US" sz="1400">
                <a:solidFill>
                  <a:srgbClr val="4A3B2A"/>
                </a:solidFill>
                <a:latin typeface="MiSans"/>
                <a:ea typeface="MiSans"/>
              </a:rPr>
              <a:t> 每步带 deadline 与验收标准</a:t>
            </a:r>
            <a:endParaRPr lang="en-US" sz="1400"/>
          </a:p>
          <a:p>
            <a:pPr algn="l">
              <a:lnSpc>
                <a:spcPct val="200000"/>
              </a:lnSpc>
            </a:pPr>
            <a:r>
              <a:rPr lang="en-US" sz="1400">
                <a:solidFill>
                  <a:srgbClr val="B5544A"/>
                </a:solidFill>
                <a:latin typeface="MiSans"/>
                <a:ea typeface="MiSans"/>
              </a:rPr>
              <a:t>▸</a:t>
            </a:r>
            <a:r>
              <a:rPr lang="en-US" sz="1400">
                <a:solidFill>
                  <a:srgbClr val="4A3B2A"/>
                </a:solidFill>
                <a:latin typeface="MiSans"/>
                <a:ea typeface="MiSans"/>
              </a:rPr>
              <a:t> 像游戏任务一样，一步步点亮成就树</a:t>
            </a:r>
            <a:endParaRPr lang="en-US" sz="1400"/>
          </a:p>
        </p:txBody>
      </p:sp>
      <p:pic>
        <p:nvPicPr>
          <p:cNvPr id="10" name="tree-star"/>
          <p:cNvPicPr/>
          <p:nvPr/>
        </p:nvPicPr>
        <p:blipFill>
          <a:blip r:embed="rIdImage14"/>
          <a:stretch>
            <a:fillRect/>
          </a:stretch>
        </p:blipFill>
        <p:spPr>
          <a:xfrm>
            <a:off x="6959600" y="1879600"/>
            <a:ext cx="406400" cy="406400"/>
          </a:xfrm>
          <a:prstGeom prst="rect">
            <a:avLst/>
          </a:prstGeom>
          <a:ln>
            <a:noFill/>
          </a:ln>
        </p:spPr>
      </p:pic>
      <p:sp>
        <p:nvSpPr>
          <p:cNvPr id="11" name="tree-root"/>
          <p:cNvSpPr/>
          <p:nvPr/>
        </p:nvSpPr>
        <p:spPr>
          <a:xfrm>
            <a:off x="7442200" y="1778000"/>
            <a:ext cx="2540000" cy="558800"/>
          </a:xfrm>
          <a:prstGeom prst="rect">
            <a:avLst/>
          </a:prstGeom>
          <a:solidFill>
            <a:srgbClr val="F2E8D5"/>
          </a:solidFill>
          <a:ln w="25400">
            <a:solidFill>
              <a:srgbClr val="4A3B2A"/>
            </a:solidFill>
          </a:ln>
        </p:spPr>
      </p:sp>
      <p:sp>
        <p:nvSpPr>
          <p:cNvPr id="12" name="tree-root-text"/>
          <p:cNvSpPr txBox="1"/>
          <p:nvPr/>
        </p:nvSpPr>
        <p:spPr>
          <a:xfrm>
            <a:off x="7442200" y="1778000"/>
            <a:ext cx="254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4A3B2A"/>
                </a:solidFill>
                <a:latin typeface="精品点阵体"/>
                <a:ea typeface="精品点阵体"/>
              </a:rPr>
              <a:t>人生目标</a:t>
            </a:r>
            <a:endParaRPr lang="en-US" sz="1500"/>
          </a:p>
        </p:txBody>
      </p:sp>
      <p:sp>
        <p:nvSpPr>
          <p:cNvPr id="13" name="link-trunk"/>
          <p:cNvSpPr/>
          <p:nvPr/>
        </p:nvSpPr>
        <p:spPr>
          <a:xfrm>
            <a:off x="8699500" y="2336800"/>
            <a:ext cx="25400" cy="393700"/>
          </a:xfrm>
          <a:prstGeom prst="rect">
            <a:avLst/>
          </a:prstGeom>
          <a:solidFill>
            <a:srgbClr val="8B6B4A"/>
          </a:solidFill>
          <a:ln>
            <a:noFill/>
          </a:ln>
        </p:spPr>
      </p:sp>
      <p:sp>
        <p:nvSpPr>
          <p:cNvPr id="14" name="link-bar"/>
          <p:cNvSpPr/>
          <p:nvPr/>
        </p:nvSpPr>
        <p:spPr>
          <a:xfrm>
            <a:off x="7175500" y="2730500"/>
            <a:ext cx="3327400" cy="25400"/>
          </a:xfrm>
          <a:prstGeom prst="rect">
            <a:avLst/>
          </a:prstGeom>
          <a:solidFill>
            <a:srgbClr val="8B6B4A"/>
          </a:solidFill>
          <a:ln>
            <a:noFill/>
          </a:ln>
        </p:spPr>
      </p:sp>
      <p:sp>
        <p:nvSpPr>
          <p:cNvPr id="15" name="link-v1"/>
          <p:cNvSpPr/>
          <p:nvPr/>
        </p:nvSpPr>
        <p:spPr>
          <a:xfrm>
            <a:off x="7162800" y="2730500"/>
            <a:ext cx="25400" cy="444500"/>
          </a:xfrm>
          <a:prstGeom prst="rect">
            <a:avLst/>
          </a:prstGeom>
          <a:solidFill>
            <a:srgbClr val="8B6B4A"/>
          </a:solidFill>
          <a:ln>
            <a:noFill/>
          </a:ln>
        </p:spPr>
      </p:sp>
      <p:sp>
        <p:nvSpPr>
          <p:cNvPr id="16" name="link-v2"/>
          <p:cNvSpPr/>
          <p:nvPr/>
        </p:nvSpPr>
        <p:spPr>
          <a:xfrm>
            <a:off x="8826500" y="2730500"/>
            <a:ext cx="25400" cy="444500"/>
          </a:xfrm>
          <a:prstGeom prst="rect">
            <a:avLst/>
          </a:prstGeom>
          <a:solidFill>
            <a:srgbClr val="8B6B4A"/>
          </a:solidFill>
          <a:ln>
            <a:noFill/>
          </a:ln>
        </p:spPr>
      </p:sp>
      <p:sp>
        <p:nvSpPr>
          <p:cNvPr id="17" name="link-v3"/>
          <p:cNvSpPr/>
          <p:nvPr/>
        </p:nvSpPr>
        <p:spPr>
          <a:xfrm>
            <a:off x="10490200" y="2730500"/>
            <a:ext cx="25400" cy="444500"/>
          </a:xfrm>
          <a:prstGeom prst="rect">
            <a:avLst/>
          </a:prstGeom>
          <a:solidFill>
            <a:srgbClr val="8B6B4A"/>
          </a:solidFill>
          <a:ln>
            <a:noFill/>
          </a:ln>
        </p:spPr>
      </p:sp>
      <p:sp>
        <p:nvSpPr>
          <p:cNvPr id="18" name="stage-1"/>
          <p:cNvSpPr/>
          <p:nvPr/>
        </p:nvSpPr>
        <p:spPr>
          <a:xfrm>
            <a:off x="6350000" y="3175000"/>
            <a:ext cx="1651000" cy="431800"/>
          </a:xfrm>
          <a:prstGeom prst="rect">
            <a:avLst/>
          </a:prstGeom>
          <a:solidFill>
            <a:srgbClr val="D9A441"/>
          </a:solidFill>
          <a:ln w="25400">
            <a:solidFill>
              <a:srgbClr val="4A3B2A"/>
            </a:solidFill>
          </a:ln>
        </p:spPr>
      </p:sp>
      <p:sp>
        <p:nvSpPr>
          <p:cNvPr id="19" name="stage-1-text"/>
          <p:cNvSpPr txBox="1"/>
          <p:nvPr/>
        </p:nvSpPr>
        <p:spPr>
          <a:xfrm>
            <a:off x="6350000" y="31750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4A3B2A"/>
                </a:solidFill>
                <a:latin typeface="精品点阵体"/>
                <a:ea typeface="精品点阵体"/>
              </a:rPr>
              <a:t>阶段一</a:t>
            </a:r>
            <a:endParaRPr lang="en-US" sz="1300"/>
          </a:p>
        </p:txBody>
      </p:sp>
      <p:sp>
        <p:nvSpPr>
          <p:cNvPr id="20" name="stage-2"/>
          <p:cNvSpPr/>
          <p:nvPr/>
        </p:nvSpPr>
        <p:spPr>
          <a:xfrm>
            <a:off x="8013700" y="3175000"/>
            <a:ext cx="1651000" cy="431800"/>
          </a:xfrm>
          <a:prstGeom prst="rect">
            <a:avLst/>
          </a:prstGeom>
          <a:solidFill>
            <a:srgbClr val="D9A441"/>
          </a:solidFill>
          <a:ln w="25400">
            <a:solidFill>
              <a:srgbClr val="4A3B2A"/>
            </a:solidFill>
          </a:ln>
        </p:spPr>
      </p:sp>
      <p:sp>
        <p:nvSpPr>
          <p:cNvPr id="21" name="stage-2-text"/>
          <p:cNvSpPr txBox="1"/>
          <p:nvPr/>
        </p:nvSpPr>
        <p:spPr>
          <a:xfrm>
            <a:off x="8013700" y="31750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4A3B2A"/>
                </a:solidFill>
                <a:latin typeface="精品点阵体"/>
                <a:ea typeface="精品点阵体"/>
              </a:rPr>
              <a:t>阶段二</a:t>
            </a:r>
            <a:endParaRPr lang="en-US" sz="1300"/>
          </a:p>
        </p:txBody>
      </p:sp>
      <p:sp>
        <p:nvSpPr>
          <p:cNvPr id="22" name="stage-3"/>
          <p:cNvSpPr/>
          <p:nvPr/>
        </p:nvSpPr>
        <p:spPr>
          <a:xfrm>
            <a:off x="9677400" y="3175000"/>
            <a:ext cx="1651000" cy="431800"/>
          </a:xfrm>
          <a:prstGeom prst="rect">
            <a:avLst/>
          </a:prstGeom>
          <a:solidFill>
            <a:srgbClr val="D9A441"/>
          </a:solidFill>
          <a:ln w="25400">
            <a:solidFill>
              <a:srgbClr val="4A3B2A"/>
            </a:solidFill>
          </a:ln>
        </p:spPr>
      </p:sp>
      <p:sp>
        <p:nvSpPr>
          <p:cNvPr id="23" name="stage-3-text"/>
          <p:cNvSpPr txBox="1"/>
          <p:nvPr/>
        </p:nvSpPr>
        <p:spPr>
          <a:xfrm>
            <a:off x="9677400" y="31750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4A3B2A"/>
                </a:solidFill>
                <a:latin typeface="精品点阵体"/>
                <a:ea typeface="精品点阵体"/>
              </a:rPr>
              <a:t>阶段三</a:t>
            </a:r>
            <a:endParaRPr lang="en-US" sz="1300"/>
          </a:p>
        </p:txBody>
      </p:sp>
      <p:sp>
        <p:nvSpPr>
          <p:cNvPr id="24" name="t11"/>
          <p:cNvSpPr/>
          <p:nvPr/>
        </p:nvSpPr>
        <p:spPr>
          <a:xfrm>
            <a:off x="6350000" y="3835400"/>
            <a:ext cx="1651000" cy="330200"/>
          </a:xfrm>
          <a:prstGeom prst="rect">
            <a:avLst/>
          </a:prstGeom>
          <a:solidFill>
            <a:srgbClr val="FAF3E3"/>
          </a:solidFill>
          <a:ln w="12700">
            <a:solidFill>
              <a:srgbClr val="8B6B4A"/>
            </a:solidFill>
          </a:ln>
        </p:spPr>
      </p:sp>
      <p:sp>
        <p:nvSpPr>
          <p:cNvPr id="25" name="t11-text"/>
          <p:cNvSpPr txBox="1"/>
          <p:nvPr/>
        </p:nvSpPr>
        <p:spPr>
          <a:xfrm>
            <a:off x="6350000" y="38354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8B6B4A"/>
                </a:solidFill>
                <a:latin typeface="MiSans"/>
                <a:ea typeface="MiSans"/>
              </a:rPr>
              <a:t>联网搜索参考</a:t>
            </a:r>
            <a:endParaRPr lang="en-US" sz="1000"/>
          </a:p>
        </p:txBody>
      </p:sp>
      <p:sp>
        <p:nvSpPr>
          <p:cNvPr id="26" name="t12"/>
          <p:cNvSpPr/>
          <p:nvPr/>
        </p:nvSpPr>
        <p:spPr>
          <a:xfrm>
            <a:off x="6350000" y="4292600"/>
            <a:ext cx="1651000" cy="330200"/>
          </a:xfrm>
          <a:prstGeom prst="rect">
            <a:avLst/>
          </a:prstGeom>
          <a:solidFill>
            <a:srgbClr val="FAF3E3"/>
          </a:solidFill>
          <a:ln w="12700">
            <a:solidFill>
              <a:srgbClr val="8B6B4A"/>
            </a:solidFill>
          </a:ln>
        </p:spPr>
      </p:sp>
      <p:sp>
        <p:nvSpPr>
          <p:cNvPr id="27" name="t12-text"/>
          <p:cNvSpPr txBox="1"/>
          <p:nvPr/>
        </p:nvSpPr>
        <p:spPr>
          <a:xfrm>
            <a:off x="6350000" y="42926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8B6B4A"/>
                </a:solidFill>
                <a:latin typeface="MiSans"/>
                <a:ea typeface="MiSans"/>
              </a:rPr>
              <a:t>拆解小步任务</a:t>
            </a:r>
            <a:endParaRPr lang="en-US" sz="1000"/>
          </a:p>
        </p:txBody>
      </p:sp>
      <p:sp>
        <p:nvSpPr>
          <p:cNvPr id="28" name="t13"/>
          <p:cNvSpPr/>
          <p:nvPr/>
        </p:nvSpPr>
        <p:spPr>
          <a:xfrm>
            <a:off x="6350000" y="4749800"/>
            <a:ext cx="1651000" cy="330200"/>
          </a:xfrm>
          <a:prstGeom prst="rect">
            <a:avLst/>
          </a:prstGeom>
          <a:solidFill>
            <a:srgbClr val="FAF3E3"/>
          </a:solidFill>
          <a:ln w="12700">
            <a:solidFill>
              <a:srgbClr val="8B6B4A"/>
            </a:solidFill>
          </a:ln>
        </p:spPr>
      </p:sp>
      <p:sp>
        <p:nvSpPr>
          <p:cNvPr id="29" name="t13-text"/>
          <p:cNvSpPr txBox="1"/>
          <p:nvPr/>
        </p:nvSpPr>
        <p:spPr>
          <a:xfrm>
            <a:off x="6350000" y="47498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8B6B4A"/>
                </a:solidFill>
                <a:latin typeface="MiSans"/>
                <a:ea typeface="MiSans"/>
              </a:rPr>
              <a:t>设定验收标准</a:t>
            </a:r>
            <a:endParaRPr lang="en-US" sz="1000"/>
          </a:p>
        </p:txBody>
      </p:sp>
      <p:sp>
        <p:nvSpPr>
          <p:cNvPr id="30" name="t21"/>
          <p:cNvSpPr/>
          <p:nvPr/>
        </p:nvSpPr>
        <p:spPr>
          <a:xfrm>
            <a:off x="8013700" y="3835400"/>
            <a:ext cx="1651000" cy="330200"/>
          </a:xfrm>
          <a:prstGeom prst="rect">
            <a:avLst/>
          </a:prstGeom>
          <a:solidFill>
            <a:srgbClr val="FAF3E3"/>
          </a:solidFill>
          <a:ln w="12700">
            <a:solidFill>
              <a:srgbClr val="8B6B4A"/>
            </a:solidFill>
          </a:ln>
        </p:spPr>
      </p:sp>
      <p:sp>
        <p:nvSpPr>
          <p:cNvPr id="31" name="t21-text"/>
          <p:cNvSpPr txBox="1"/>
          <p:nvPr/>
        </p:nvSpPr>
        <p:spPr>
          <a:xfrm>
            <a:off x="8013700" y="38354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8B6B4A"/>
                </a:solidFill>
                <a:latin typeface="MiSans"/>
                <a:ea typeface="MiSans"/>
              </a:rPr>
              <a:t>每日小步推进</a:t>
            </a:r>
            <a:endParaRPr lang="en-US" sz="1000"/>
          </a:p>
        </p:txBody>
      </p:sp>
      <p:sp>
        <p:nvSpPr>
          <p:cNvPr id="32" name="t22"/>
          <p:cNvSpPr/>
          <p:nvPr/>
        </p:nvSpPr>
        <p:spPr>
          <a:xfrm>
            <a:off x="8013700" y="4292600"/>
            <a:ext cx="1651000" cy="330200"/>
          </a:xfrm>
          <a:prstGeom prst="rect">
            <a:avLst/>
          </a:prstGeom>
          <a:solidFill>
            <a:srgbClr val="FAF3E3"/>
          </a:solidFill>
          <a:ln w="12700">
            <a:solidFill>
              <a:srgbClr val="8B6B4A"/>
            </a:solidFill>
          </a:ln>
        </p:spPr>
      </p:sp>
      <p:sp>
        <p:nvSpPr>
          <p:cNvPr id="33" name="t22-text"/>
          <p:cNvSpPr txBox="1"/>
          <p:nvPr/>
        </p:nvSpPr>
        <p:spPr>
          <a:xfrm>
            <a:off x="8013700" y="42926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8B6B4A"/>
                </a:solidFill>
                <a:latin typeface="MiSans"/>
                <a:ea typeface="MiSans"/>
              </a:rPr>
              <a:t>打勾验收成果</a:t>
            </a:r>
            <a:endParaRPr lang="en-US" sz="1000"/>
          </a:p>
        </p:txBody>
      </p:sp>
      <p:sp>
        <p:nvSpPr>
          <p:cNvPr id="34" name="t23"/>
          <p:cNvSpPr/>
          <p:nvPr/>
        </p:nvSpPr>
        <p:spPr>
          <a:xfrm>
            <a:off x="8013700" y="4749800"/>
            <a:ext cx="1651000" cy="330200"/>
          </a:xfrm>
          <a:prstGeom prst="rect">
            <a:avLst/>
          </a:prstGeom>
          <a:solidFill>
            <a:srgbClr val="FAF3E3"/>
          </a:solidFill>
          <a:ln w="12700">
            <a:solidFill>
              <a:srgbClr val="8B6B4A"/>
            </a:solidFill>
          </a:ln>
        </p:spPr>
      </p:sp>
      <p:sp>
        <p:nvSpPr>
          <p:cNvPr id="35" name="t23-text"/>
          <p:cNvSpPr txBox="1"/>
          <p:nvPr/>
        </p:nvSpPr>
        <p:spPr>
          <a:xfrm>
            <a:off x="8013700" y="47498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8B6B4A"/>
                </a:solidFill>
                <a:latin typeface="MiSans"/>
                <a:ea typeface="MiSans"/>
              </a:rPr>
              <a:t>解锁下一节点</a:t>
            </a:r>
            <a:endParaRPr lang="en-US" sz="1000"/>
          </a:p>
        </p:txBody>
      </p:sp>
      <p:sp>
        <p:nvSpPr>
          <p:cNvPr id="36" name="t31"/>
          <p:cNvSpPr/>
          <p:nvPr/>
        </p:nvSpPr>
        <p:spPr>
          <a:xfrm>
            <a:off x="9677400" y="3835400"/>
            <a:ext cx="1651000" cy="330200"/>
          </a:xfrm>
          <a:prstGeom prst="rect">
            <a:avLst/>
          </a:prstGeom>
          <a:solidFill>
            <a:srgbClr val="FAF3E3"/>
          </a:solidFill>
          <a:ln w="12700">
            <a:solidFill>
              <a:srgbClr val="8B6B4A"/>
            </a:solidFill>
          </a:ln>
        </p:spPr>
      </p:sp>
      <p:sp>
        <p:nvSpPr>
          <p:cNvPr id="37" name="t31-text"/>
          <p:cNvSpPr txBox="1"/>
          <p:nvPr/>
        </p:nvSpPr>
        <p:spPr>
          <a:xfrm>
            <a:off x="9677400" y="38354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8B6B4A"/>
                </a:solidFill>
                <a:latin typeface="MiSans"/>
                <a:ea typeface="MiSans"/>
              </a:rPr>
              <a:t>Deadline 提醒</a:t>
            </a:r>
            <a:endParaRPr lang="en-US" sz="1000"/>
          </a:p>
        </p:txBody>
      </p:sp>
      <p:sp>
        <p:nvSpPr>
          <p:cNvPr id="38" name="t32"/>
          <p:cNvSpPr/>
          <p:nvPr/>
        </p:nvSpPr>
        <p:spPr>
          <a:xfrm>
            <a:off x="9677400" y="4292600"/>
            <a:ext cx="1651000" cy="330200"/>
          </a:xfrm>
          <a:prstGeom prst="rect">
            <a:avLst/>
          </a:prstGeom>
          <a:solidFill>
            <a:srgbClr val="FAF3E3"/>
          </a:solidFill>
          <a:ln w="12700">
            <a:solidFill>
              <a:srgbClr val="8B6B4A"/>
            </a:solidFill>
          </a:ln>
        </p:spPr>
      </p:sp>
      <p:sp>
        <p:nvSpPr>
          <p:cNvPr id="39" name="t32-text"/>
          <p:cNvSpPr txBox="1"/>
          <p:nvPr/>
        </p:nvSpPr>
        <p:spPr>
          <a:xfrm>
            <a:off x="9677400" y="42926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8B6B4A"/>
                </a:solidFill>
                <a:latin typeface="MiSans"/>
                <a:ea typeface="MiSans"/>
              </a:rPr>
              <a:t>点亮成就之星</a:t>
            </a:r>
            <a:endParaRPr lang="en-US" sz="1000"/>
          </a:p>
        </p:txBody>
      </p:sp>
      <p:sp>
        <p:nvSpPr>
          <p:cNvPr id="40" name="t33"/>
          <p:cNvSpPr/>
          <p:nvPr/>
        </p:nvSpPr>
        <p:spPr>
          <a:xfrm>
            <a:off x="9677400" y="4749800"/>
            <a:ext cx="1651000" cy="330200"/>
          </a:xfrm>
          <a:prstGeom prst="rect">
            <a:avLst/>
          </a:prstGeom>
          <a:solidFill>
            <a:srgbClr val="FAF3E3"/>
          </a:solidFill>
          <a:ln w="12700">
            <a:solidFill>
              <a:srgbClr val="8B6B4A"/>
            </a:solidFill>
          </a:ln>
        </p:spPr>
      </p:sp>
      <p:sp>
        <p:nvSpPr>
          <p:cNvPr id="41" name="t33-text"/>
          <p:cNvSpPr txBox="1"/>
          <p:nvPr/>
        </p:nvSpPr>
        <p:spPr>
          <a:xfrm>
            <a:off x="9677400" y="47498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8B6B4A"/>
                </a:solidFill>
                <a:latin typeface="MiSans"/>
                <a:ea typeface="MiSans"/>
              </a:rPr>
              <a:t>领取阶段奖励</a:t>
            </a:r>
            <a:endParaRPr lang="en-US" sz="1000"/>
          </a:p>
        </p:txBody>
      </p:sp>
      <p:sp>
        <p:nvSpPr>
          <p:cNvPr id="42" name="tree-note"/>
          <p:cNvSpPr txBox="1"/>
          <p:nvPr/>
        </p:nvSpPr>
        <p:spPr>
          <a:xfrm>
            <a:off x="6350000" y="5384800"/>
            <a:ext cx="4978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8B6B4A"/>
                </a:solidFill>
                <a:latin typeface="MiSans"/>
                <a:ea typeface="MiSans"/>
              </a:rPr>
              <a:t>目标 → 阶段 → 小步任务，每完成一步，点亮一颗星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blipFill>
          <a:blip r:embed="rIdImage18"/>
          <a:srcRect t="21875" b="21875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rand"/>
          <p:cNvSpPr txBox="1"/>
          <p:nvPr/>
        </p:nvSpPr>
        <p:spPr>
          <a:xfrm>
            <a:off x="609600" y="2794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spc="300" kern="0">
                <a:solidFill>
                  <a:srgbClr val="FAF3E3"/>
                </a:solidFill>
                <a:latin typeface="Jersey15"/>
                <a:ea typeface="Jersey15"/>
              </a:rPr>
              <a:t>ZHIJIAN · LIFE RPG</a:t>
            </a:r>
            <a:endParaRPr lang="en-US" sz="1000"/>
          </a:p>
        </p:txBody>
      </p:sp>
      <p:sp>
        <p:nvSpPr>
          <p:cNvPr id="3" name="hdr-page"/>
          <p:cNvSpPr txBox="1"/>
          <p:nvPr/>
        </p:nvSpPr>
        <p:spPr>
          <a:xfrm>
            <a:off x="10058400" y="2794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000" spc="300" kern="0">
                <a:solidFill>
                  <a:srgbClr val="FAF3E3"/>
                </a:solidFill>
                <a:latin typeface="Jersey15"/>
                <a:ea typeface="Jersey15"/>
              </a:rPr>
              <a:t>06 / 09</a:t>
            </a:r>
            <a:endParaRPr lang="en-US" sz="1000"/>
          </a:p>
        </p:txBody>
      </p:sp>
      <p:sp>
        <p:nvSpPr>
          <p:cNvPr id="4" name="title-strip"/>
          <p:cNvSpPr/>
          <p:nvPr/>
        </p:nvSpPr>
        <p:spPr>
          <a:xfrm>
            <a:off x="457200" y="558800"/>
            <a:ext cx="8382000" cy="711200"/>
          </a:xfrm>
          <a:prstGeom prst="rect">
            <a:avLst/>
          </a:prstGeom>
          <a:solidFill>
            <a:srgbClr val="2B2015">
              <a:alpha val="60000"/>
            </a:srgbClr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6350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800">
                <a:solidFill>
                  <a:srgbClr val="FAF3E3"/>
                </a:solidFill>
                <a:latin typeface="精品点阵体"/>
                <a:ea typeface="精品点阵体"/>
              </a:rPr>
              <a:t>功能 ② · 魔法日记本 × 自动化简历</a:t>
            </a:r>
            <a:endParaRPr lang="en-US" sz="2800"/>
          </a:p>
        </p:txBody>
      </p:sp>
      <p:sp>
        <p:nvSpPr>
          <p:cNvPr id="6" name="title-tick"/>
          <p:cNvSpPr/>
          <p:nvPr/>
        </p:nvSpPr>
        <p:spPr>
          <a:xfrm>
            <a:off x="635000" y="1270000"/>
            <a:ext cx="914400" cy="63500"/>
          </a:xfrm>
          <a:prstGeom prst="rect">
            <a:avLst/>
          </a:prstGeom>
          <a:solidFill>
            <a:srgbClr val="D9A441"/>
          </a:solidFill>
          <a:ln>
            <a:noFill/>
          </a:ln>
        </p:spPr>
      </p:sp>
      <p:sp>
        <p:nvSpPr>
          <p:cNvPr id="7" name="panel-l"/>
          <p:cNvSpPr/>
          <p:nvPr/>
        </p:nvSpPr>
        <p:spPr>
          <a:xfrm>
            <a:off x="609600" y="1778000"/>
            <a:ext cx="5334000" cy="4267200"/>
          </a:xfrm>
          <a:prstGeom prst="rect">
            <a:avLst/>
          </a:prstGeom>
          <a:solidFill>
            <a:srgbClr val="F2E8D5"/>
          </a:solidFill>
          <a:ln w="38100">
            <a:solidFill>
              <a:srgbClr val="4A3B2A"/>
            </a:solidFill>
          </a:ln>
        </p:spPr>
      </p:sp>
      <p:pic>
        <p:nvPicPr>
          <p:cNvPr id="8" name="pl-icon"/>
          <p:cNvPicPr/>
          <p:nvPr/>
        </p:nvPicPr>
        <p:blipFill>
          <a:blip r:embed="rIdImage15"/>
          <a:stretch>
            <a:fillRect/>
          </a:stretch>
        </p:blipFill>
        <p:spPr>
          <a:xfrm>
            <a:off x="965200" y="20828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9" name="pl-title"/>
          <p:cNvSpPr txBox="1"/>
          <p:nvPr/>
        </p:nvSpPr>
        <p:spPr>
          <a:xfrm>
            <a:off x="1981200" y="2133600"/>
            <a:ext cx="304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900">
                <a:solidFill>
                  <a:srgbClr val="4A3B2A"/>
                </a:solidFill>
                <a:latin typeface="精品点阵体"/>
                <a:ea typeface="精品点阵体"/>
              </a:rPr>
              <a:t>魔法日记本</a:t>
            </a:r>
            <a:endParaRPr lang="en-US" sz="1900"/>
          </a:p>
        </p:txBody>
      </p:sp>
      <p:sp>
        <p:nvSpPr>
          <p:cNvPr id="10" name="pl-tag"/>
          <p:cNvSpPr txBox="1"/>
          <p:nvPr/>
        </p:nvSpPr>
        <p:spPr>
          <a:xfrm>
            <a:off x="1981200" y="25908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B5544A"/>
                </a:solidFill>
                <a:latin typeface="MiSans"/>
                <a:ea typeface="MiSans"/>
              </a:rPr>
              <a:t>汤姆·里德尔式日记</a:t>
            </a:r>
            <a:endParaRPr lang="en-US" sz="1100"/>
          </a:p>
        </p:txBody>
      </p:sp>
      <p:sp>
        <p:nvSpPr>
          <p:cNvPr id="11" name="pl-list"/>
          <p:cNvSpPr txBox="1"/>
          <p:nvPr/>
        </p:nvSpPr>
        <p:spPr>
          <a:xfrm>
            <a:off x="965200" y="3149600"/>
            <a:ext cx="46228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200000"/>
              </a:lnSpc>
            </a:pPr>
            <a:r>
              <a:rPr lang="en-US" sz="1300">
                <a:solidFill>
                  <a:srgbClr val="B5544A"/>
                </a:solidFill>
                <a:latin typeface="MiSans"/>
                <a:ea typeface="MiSans"/>
              </a:rPr>
              <a:t>▸</a:t>
            </a:r>
            <a:r>
              <a:rPr lang="en-US" sz="1300">
                <a:solidFill>
                  <a:srgbClr val="4A3B2A"/>
                </a:solidFill>
                <a:latin typeface="MiSans"/>
                <a:ea typeface="MiSans"/>
              </a:rPr>
              <a:t> 写下的字，会慢慢消失</a:t>
            </a:r>
            <a:endParaRPr lang="en-US" sz="1300"/>
          </a:p>
          <a:p>
            <a:pPr algn="l">
              <a:lnSpc>
                <a:spcPct val="200000"/>
              </a:lnSpc>
            </a:pPr>
            <a:r>
              <a:rPr lang="en-US" sz="1300">
                <a:solidFill>
                  <a:srgbClr val="B5544A"/>
                </a:solidFill>
                <a:latin typeface="MiSans"/>
                <a:ea typeface="MiSans"/>
              </a:rPr>
              <a:t>▸</a:t>
            </a:r>
            <a:r>
              <a:rPr lang="en-US" sz="1300">
                <a:solidFill>
                  <a:srgbClr val="4A3B2A"/>
                </a:solidFill>
                <a:latin typeface="MiSans"/>
                <a:ea typeface="MiSans"/>
              </a:rPr>
              <a:t> AI 以墨水浮现回应你</a:t>
            </a:r>
            <a:endParaRPr lang="en-US" sz="1300"/>
          </a:p>
          <a:p>
            <a:pPr algn="l">
              <a:lnSpc>
                <a:spcPct val="200000"/>
              </a:lnSpc>
            </a:pPr>
            <a:r>
              <a:rPr lang="en-US" sz="1300">
                <a:solidFill>
                  <a:srgbClr val="B5544A"/>
                </a:solidFill>
                <a:latin typeface="MiSans"/>
                <a:ea typeface="MiSans"/>
              </a:rPr>
              <a:t>▸</a:t>
            </a:r>
            <a:r>
              <a:rPr lang="en-US" sz="1300">
                <a:solidFill>
                  <a:srgbClr val="4A3B2A"/>
                </a:solidFill>
                <a:latin typeface="MiSans"/>
                <a:ea typeface="MiSans"/>
              </a:rPr>
              <a:t> 情绪、复盘、悄悄话都有处安放</a:t>
            </a:r>
            <a:endParaRPr lang="en-US" sz="1300"/>
          </a:p>
        </p:txBody>
      </p:sp>
      <p:pic>
        <p:nvPicPr>
          <p:cNvPr id="12" name="pl-bubble"/>
          <p:cNvPicPr/>
          <p:nvPr/>
        </p:nvPicPr>
        <p:blipFill>
          <a:blip r:embed="rIdImage11"/>
          <a:stretch>
            <a:fillRect/>
          </a:stretch>
        </p:blipFill>
        <p:spPr>
          <a:xfrm>
            <a:off x="965200" y="4902200"/>
            <a:ext cx="2235200" cy="889000"/>
          </a:xfrm>
          <a:prstGeom prst="rect">
            <a:avLst/>
          </a:prstGeom>
          <a:ln>
            <a:noFill/>
          </a:ln>
        </p:spPr>
      </p:pic>
      <p:sp>
        <p:nvSpPr>
          <p:cNvPr id="13" name="pl-bubble-text"/>
          <p:cNvSpPr txBox="1"/>
          <p:nvPr/>
        </p:nvSpPr>
        <p:spPr>
          <a:xfrm>
            <a:off x="1143000" y="5029200"/>
            <a:ext cx="1905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0000"/>
              </a:lnSpc>
            </a:pPr>
            <a:r>
              <a:rPr lang="en-US" sz="1100">
                <a:solidFill>
                  <a:srgbClr val="4A3B2A"/>
                </a:solidFill>
                <a:latin typeface="MiSans"/>
                <a:ea typeface="MiSans"/>
              </a:rPr>
              <a:t>墨水慢慢浮现：「我在听。」</a:t>
            </a:r>
            <a:endParaRPr lang="en-US" sz="1100"/>
          </a:p>
        </p:txBody>
      </p:sp>
      <p:pic>
        <p:nvPicPr>
          <p:cNvPr id="14" name="pl-quill"/>
          <p:cNvPicPr/>
          <p:nvPr/>
        </p:nvPicPr>
        <p:blipFill>
          <a:blip r:embed="rIdImage19"/>
          <a:stretch>
            <a:fillRect/>
          </a:stretch>
        </p:blipFill>
        <p:spPr>
          <a:xfrm>
            <a:off x="4724400" y="4978400"/>
            <a:ext cx="711200" cy="711200"/>
          </a:xfrm>
          <a:prstGeom prst="rect">
            <a:avLst/>
          </a:prstGeom>
          <a:ln>
            <a:noFill/>
          </a:ln>
        </p:spPr>
      </p:pic>
      <p:sp>
        <p:nvSpPr>
          <p:cNvPr id="15" name="panel-r"/>
          <p:cNvSpPr/>
          <p:nvPr/>
        </p:nvSpPr>
        <p:spPr>
          <a:xfrm>
            <a:off x="6248400" y="1778000"/>
            <a:ext cx="5334000" cy="4267200"/>
          </a:xfrm>
          <a:prstGeom prst="rect">
            <a:avLst/>
          </a:prstGeom>
          <a:solidFill>
            <a:srgbClr val="F2E8D5"/>
          </a:solidFill>
          <a:ln w="38100">
            <a:solidFill>
              <a:srgbClr val="4A3B2A"/>
            </a:solidFill>
          </a:ln>
        </p:spPr>
      </p:sp>
      <p:pic>
        <p:nvPicPr>
          <p:cNvPr id="16" name="pr-icon"/>
          <p:cNvPicPr/>
          <p:nvPr/>
        </p:nvPicPr>
        <p:blipFill>
          <a:blip r:embed="rIdImage17"/>
          <a:stretch>
            <a:fillRect/>
          </a:stretch>
        </p:blipFill>
        <p:spPr>
          <a:xfrm>
            <a:off x="6604000" y="20828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7" name="pr-title"/>
          <p:cNvSpPr txBox="1"/>
          <p:nvPr/>
        </p:nvSpPr>
        <p:spPr>
          <a:xfrm>
            <a:off x="7620000" y="2133600"/>
            <a:ext cx="304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900">
                <a:solidFill>
                  <a:srgbClr val="4A3B2A"/>
                </a:solidFill>
                <a:latin typeface="精品点阵体"/>
                <a:ea typeface="精品点阵体"/>
              </a:rPr>
              <a:t>自动化简历</a:t>
            </a:r>
            <a:endParaRPr lang="en-US" sz="1900"/>
          </a:p>
        </p:txBody>
      </p:sp>
      <p:sp>
        <p:nvSpPr>
          <p:cNvPr id="18" name="pr-tag"/>
          <p:cNvSpPr txBox="1"/>
          <p:nvPr/>
        </p:nvSpPr>
        <p:spPr>
          <a:xfrm>
            <a:off x="7620000" y="25908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B5544A"/>
                </a:solidFill>
                <a:latin typeface="MiSans"/>
                <a:ea typeface="MiSans"/>
              </a:rPr>
              <a:t>成长记录，一键变现</a:t>
            </a:r>
            <a:endParaRPr lang="en-US" sz="1100"/>
          </a:p>
        </p:txBody>
      </p:sp>
      <p:sp>
        <p:nvSpPr>
          <p:cNvPr id="19" name="pr-list"/>
          <p:cNvSpPr txBox="1"/>
          <p:nvPr/>
        </p:nvSpPr>
        <p:spPr>
          <a:xfrm>
            <a:off x="6604000" y="3149600"/>
            <a:ext cx="46228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200000"/>
              </a:lnSpc>
            </a:pPr>
            <a:r>
              <a:rPr lang="en-US" sz="1300">
                <a:solidFill>
                  <a:srgbClr val="B5544A"/>
                </a:solidFill>
                <a:latin typeface="MiSans"/>
                <a:ea typeface="MiSans"/>
              </a:rPr>
              <a:t>▸</a:t>
            </a:r>
            <a:r>
              <a:rPr lang="en-US" sz="1300">
                <a:solidFill>
                  <a:srgbClr val="4A3B2A"/>
                </a:solidFill>
                <a:latin typeface="MiSans"/>
                <a:ea typeface="MiSans"/>
              </a:rPr>
              <a:t> AI 整理你的成长记录与成就</a:t>
            </a:r>
            <a:endParaRPr lang="en-US" sz="1300"/>
          </a:p>
          <a:p>
            <a:pPr algn="l">
              <a:lnSpc>
                <a:spcPct val="200000"/>
              </a:lnSpc>
            </a:pPr>
            <a:r>
              <a:rPr lang="en-US" sz="1300">
                <a:solidFill>
                  <a:srgbClr val="B5544A"/>
                </a:solidFill>
                <a:latin typeface="MiSans"/>
                <a:ea typeface="MiSans"/>
              </a:rPr>
              <a:t>▸</a:t>
            </a:r>
            <a:r>
              <a:rPr lang="en-US" sz="1300">
                <a:solidFill>
                  <a:srgbClr val="4A3B2A"/>
                </a:solidFill>
                <a:latin typeface="MiSans"/>
                <a:ea typeface="MiSans"/>
              </a:rPr>
              <a:t> 一键生成可用简历 / 作品集</a:t>
            </a:r>
            <a:endParaRPr lang="en-US" sz="1300"/>
          </a:p>
          <a:p>
            <a:pPr algn="l">
              <a:lnSpc>
                <a:spcPct val="200000"/>
              </a:lnSpc>
            </a:pPr>
            <a:r>
              <a:rPr lang="en-US" sz="1300">
                <a:solidFill>
                  <a:srgbClr val="B5544A"/>
                </a:solidFill>
                <a:latin typeface="MiSans"/>
                <a:ea typeface="MiSans"/>
              </a:rPr>
              <a:t>▸</a:t>
            </a:r>
            <a:r>
              <a:rPr lang="en-US" sz="1300">
                <a:solidFill>
                  <a:srgbClr val="4A3B2A"/>
                </a:solidFill>
                <a:latin typeface="MiSans"/>
                <a:ea typeface="MiSans"/>
              </a:rPr>
              <a:t> 每一次升级，都有迹可循</a:t>
            </a:r>
            <a:endParaRPr lang="en-US" sz="1300"/>
          </a:p>
        </p:txBody>
      </p:sp>
      <p:pic>
        <p:nvPicPr>
          <p:cNvPr id="20" name="pr-chest"/>
          <p:cNvPicPr/>
          <p:nvPr/>
        </p:nvPicPr>
        <p:blipFill>
          <a:blip r:embed="rIdImage20"/>
          <a:stretch>
            <a:fillRect/>
          </a:stretch>
        </p:blipFill>
        <p:spPr>
          <a:xfrm>
            <a:off x="6604000" y="49530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21" name="pr-chest-label"/>
          <p:cNvSpPr txBox="1"/>
          <p:nvPr/>
        </p:nvSpPr>
        <p:spPr>
          <a:xfrm>
            <a:off x="7518400" y="51562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B6B4A"/>
                </a:solidFill>
                <a:latin typeface="MiSans"/>
                <a:ea typeface="MiSans"/>
              </a:rPr>
              <a:t>简历，是这一路冒险的战利品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blipFill>
          <a:blip r:embed="rIdImage21"/>
          <a:srcRect t="21875" b="21875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rand"/>
          <p:cNvSpPr txBox="1"/>
          <p:nvPr/>
        </p:nvSpPr>
        <p:spPr>
          <a:xfrm>
            <a:off x="609600" y="2794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spc="300" kern="0">
                <a:solidFill>
                  <a:srgbClr val="FAF3E3"/>
                </a:solidFill>
                <a:latin typeface="Jersey15"/>
                <a:ea typeface="Jersey15"/>
              </a:rPr>
              <a:t>ZHIJIAN · LIFE RPG</a:t>
            </a:r>
            <a:endParaRPr lang="en-US" sz="1000"/>
          </a:p>
        </p:txBody>
      </p:sp>
      <p:sp>
        <p:nvSpPr>
          <p:cNvPr id="3" name="hdr-page"/>
          <p:cNvSpPr txBox="1"/>
          <p:nvPr/>
        </p:nvSpPr>
        <p:spPr>
          <a:xfrm>
            <a:off x="10058400" y="2794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000" spc="300" kern="0">
                <a:solidFill>
                  <a:srgbClr val="FAF3E3"/>
                </a:solidFill>
                <a:latin typeface="Jersey15"/>
                <a:ea typeface="Jersey15"/>
              </a:rPr>
              <a:t>07 / 09</a:t>
            </a:r>
            <a:endParaRPr lang="en-US" sz="1000"/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800">
                <a:solidFill>
                  <a:srgbClr val="FAF3E3"/>
                </a:solidFill>
                <a:latin typeface="精品点阵体"/>
                <a:ea typeface="精品点阵体"/>
              </a:rPr>
              <a:t>功能 ③ · 职见小镇 × 冒险面板</a:t>
            </a:r>
            <a:endParaRPr lang="en-US" sz="2800"/>
          </a:p>
        </p:txBody>
      </p:sp>
      <p:sp>
        <p:nvSpPr>
          <p:cNvPr id="5" name="title-tick"/>
          <p:cNvSpPr/>
          <p:nvPr/>
        </p:nvSpPr>
        <p:spPr>
          <a:xfrm>
            <a:off x="635000" y="1270000"/>
            <a:ext cx="914400" cy="63500"/>
          </a:xfrm>
          <a:prstGeom prst="rect">
            <a:avLst/>
          </a:prstGeom>
          <a:solidFill>
            <a:srgbClr val="D9A441"/>
          </a:solidFill>
          <a:ln>
            <a:noFill/>
          </a:ln>
        </p:spPr>
      </p:sp>
      <p:sp>
        <p:nvSpPr>
          <p:cNvPr id="6" name="panel-l"/>
          <p:cNvSpPr/>
          <p:nvPr/>
        </p:nvSpPr>
        <p:spPr>
          <a:xfrm>
            <a:off x="609600" y="1778000"/>
            <a:ext cx="5334000" cy="4267200"/>
          </a:xfrm>
          <a:prstGeom prst="rect">
            <a:avLst/>
          </a:prstGeom>
          <a:solidFill>
            <a:srgbClr val="F2E8D5"/>
          </a:solidFill>
          <a:ln w="38100">
            <a:solidFill>
              <a:srgbClr val="4A3B2A"/>
            </a:solidFill>
          </a:ln>
        </p:spPr>
      </p:sp>
      <p:pic>
        <p:nvPicPr>
          <p:cNvPr id="7" name="pl-icon"/>
          <p:cNvPicPr/>
          <p:nvPr/>
        </p:nvPicPr>
        <p:blipFill>
          <a:blip r:embed="rIdImage16"/>
          <a:stretch>
            <a:fillRect/>
          </a:stretch>
        </p:blipFill>
        <p:spPr>
          <a:xfrm>
            <a:off x="965200" y="20828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8" name="pl-title"/>
          <p:cNvSpPr txBox="1"/>
          <p:nvPr/>
        </p:nvSpPr>
        <p:spPr>
          <a:xfrm>
            <a:off x="1981200" y="2133600"/>
            <a:ext cx="304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900">
                <a:solidFill>
                  <a:srgbClr val="4A3B2A"/>
                </a:solidFill>
                <a:latin typeface="精品点阵体"/>
                <a:ea typeface="精品点阵体"/>
              </a:rPr>
              <a:t>职见小镇</a:t>
            </a:r>
            <a:endParaRPr lang="en-US" sz="1900"/>
          </a:p>
        </p:txBody>
      </p:sp>
      <p:sp>
        <p:nvSpPr>
          <p:cNvPr id="9" name="pl-tag"/>
          <p:cNvSpPr txBox="1"/>
          <p:nvPr/>
        </p:nvSpPr>
        <p:spPr>
          <a:xfrm>
            <a:off x="1981200" y="25908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B5544A"/>
                </a:solidFill>
                <a:latin typeface="MiSans"/>
                <a:ea typeface="MiSans"/>
              </a:rPr>
              <a:t>俯视角像素小镇 · 养成基地</a:t>
            </a:r>
            <a:endParaRPr lang="en-US" sz="1100"/>
          </a:p>
        </p:txBody>
      </p:sp>
      <p:sp>
        <p:nvSpPr>
          <p:cNvPr id="10" name="pl-list"/>
          <p:cNvSpPr txBox="1"/>
          <p:nvPr/>
        </p:nvSpPr>
        <p:spPr>
          <a:xfrm>
            <a:off x="965200" y="3149600"/>
            <a:ext cx="46228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200000"/>
              </a:lnSpc>
            </a:pPr>
            <a:r>
              <a:rPr lang="en-US" sz="1300">
                <a:solidFill>
                  <a:srgbClr val="B5544A"/>
                </a:solidFill>
                <a:latin typeface="MiSans"/>
                <a:ea typeface="MiSans"/>
              </a:rPr>
              <a:t>▸</a:t>
            </a:r>
            <a:r>
              <a:rPr lang="en-US" sz="1300">
                <a:solidFill>
                  <a:srgbClr val="4A3B2A"/>
                </a:solidFill>
                <a:latin typeface="MiSans"/>
                <a:ea typeface="MiSans"/>
              </a:rPr>
              <a:t> 和 AI 居民聊天，涨好感度</a:t>
            </a:r>
            <a:endParaRPr lang="en-US" sz="1300"/>
          </a:p>
          <a:p>
            <a:pPr algn="l">
              <a:lnSpc>
                <a:spcPct val="200000"/>
              </a:lnSpc>
            </a:pPr>
            <a:r>
              <a:rPr lang="en-US" sz="1300">
                <a:solidFill>
                  <a:srgbClr val="B5544A"/>
                </a:solidFill>
                <a:latin typeface="MiSans"/>
                <a:ea typeface="MiSans"/>
              </a:rPr>
              <a:t>▸</a:t>
            </a:r>
            <a:r>
              <a:rPr lang="en-US" sz="1300">
                <a:solidFill>
                  <a:srgbClr val="4A3B2A"/>
                </a:solidFill>
                <a:latin typeface="MiSans"/>
                <a:ea typeface="MiSans"/>
              </a:rPr>
              <a:t> 接委托任务，赚取金币</a:t>
            </a:r>
            <a:endParaRPr lang="en-US" sz="1300"/>
          </a:p>
          <a:p>
            <a:pPr algn="l">
              <a:lnSpc>
                <a:spcPct val="200000"/>
              </a:lnSpc>
            </a:pPr>
            <a:r>
              <a:rPr lang="en-US" sz="1300">
                <a:solidFill>
                  <a:srgbClr val="B5544A"/>
                </a:solidFill>
                <a:latin typeface="MiSans"/>
                <a:ea typeface="MiSans"/>
              </a:rPr>
              <a:t>▸</a:t>
            </a:r>
            <a:r>
              <a:rPr lang="en-US" sz="1300">
                <a:solidFill>
                  <a:srgbClr val="4A3B2A"/>
                </a:solidFill>
                <a:latin typeface="MiSans"/>
                <a:ea typeface="MiSans"/>
              </a:rPr>
              <a:t> 种田、养猫，经营你的小镇</a:t>
            </a:r>
            <a:endParaRPr lang="en-US" sz="1300"/>
          </a:p>
        </p:txBody>
      </p:sp>
      <p:pic>
        <p:nvPicPr>
          <p:cNvPr id="11" name="pl-cat"/>
          <p:cNvPicPr/>
          <p:nvPr/>
        </p:nvPicPr>
        <p:blipFill>
          <a:blip r:embed="rIdImage22"/>
          <a:stretch>
            <a:fillRect/>
          </a:stretch>
        </p:blipFill>
        <p:spPr>
          <a:xfrm>
            <a:off x="965200" y="5003800"/>
            <a:ext cx="762000" cy="762000"/>
          </a:xfrm>
          <a:prstGeom prst="rect">
            <a:avLst/>
          </a:prstGeom>
          <a:ln>
            <a:noFill/>
          </a:ln>
        </p:spPr>
      </p:pic>
      <p:pic>
        <p:nvPicPr>
          <p:cNvPr id="12" name="pl-crops"/>
          <p:cNvPicPr/>
          <p:nvPr/>
        </p:nvPicPr>
        <p:blipFill>
          <a:blip r:embed="rIdImage23"/>
          <a:stretch>
            <a:fillRect/>
          </a:stretch>
        </p:blipFill>
        <p:spPr>
          <a:xfrm>
            <a:off x="1879600" y="5003800"/>
            <a:ext cx="762000" cy="762000"/>
          </a:xfrm>
          <a:prstGeom prst="rect">
            <a:avLst/>
          </a:prstGeom>
          <a:ln>
            <a:noFill/>
          </a:ln>
        </p:spPr>
      </p:pic>
      <p:pic>
        <p:nvPicPr>
          <p:cNvPr id="13" name="pl-coin"/>
          <p:cNvPicPr/>
          <p:nvPr/>
        </p:nvPicPr>
        <p:blipFill>
          <a:blip r:embed="rIdImage24"/>
          <a:stretch>
            <a:fillRect/>
          </a:stretch>
        </p:blipFill>
        <p:spPr>
          <a:xfrm>
            <a:off x="2794000" y="5054600"/>
            <a:ext cx="609600" cy="609600"/>
          </a:xfrm>
          <a:prstGeom prst="rect">
            <a:avLst/>
          </a:prstGeom>
          <a:ln>
            <a:noFill/>
          </a:ln>
        </p:spPr>
      </p:pic>
      <p:sp>
        <p:nvSpPr>
          <p:cNvPr id="14" name="pl-deco-label"/>
          <p:cNvSpPr txBox="1"/>
          <p:nvPr/>
        </p:nvSpPr>
        <p:spPr>
          <a:xfrm>
            <a:off x="3606800" y="51816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B6B4A"/>
                </a:solidFill>
                <a:latin typeface="MiSans"/>
                <a:ea typeface="MiSans"/>
              </a:rPr>
              <a:t>小镇居民都在等你回家</a:t>
            </a:r>
            <a:endParaRPr lang="en-US" sz="1100"/>
          </a:p>
        </p:txBody>
      </p:sp>
      <p:sp>
        <p:nvSpPr>
          <p:cNvPr id="15" name="panel-r"/>
          <p:cNvSpPr/>
          <p:nvPr/>
        </p:nvSpPr>
        <p:spPr>
          <a:xfrm>
            <a:off x="6248400" y="1778000"/>
            <a:ext cx="5334000" cy="4267200"/>
          </a:xfrm>
          <a:prstGeom prst="rect">
            <a:avLst/>
          </a:prstGeom>
          <a:solidFill>
            <a:srgbClr val="F2E8D5"/>
          </a:solidFill>
          <a:ln w="38100">
            <a:solidFill>
              <a:srgbClr val="4A3B2A"/>
            </a:solidFill>
          </a:ln>
        </p:spPr>
      </p:sp>
      <p:pic>
        <p:nvPicPr>
          <p:cNvPr id="16" name="pr-icon"/>
          <p:cNvPicPr/>
          <p:nvPr/>
        </p:nvPicPr>
        <p:blipFill>
          <a:blip r:embed="rIdImage6"/>
          <a:stretch>
            <a:fillRect/>
          </a:stretch>
        </p:blipFill>
        <p:spPr>
          <a:xfrm>
            <a:off x="6604000" y="20828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7" name="pr-title"/>
          <p:cNvSpPr txBox="1"/>
          <p:nvPr/>
        </p:nvSpPr>
        <p:spPr>
          <a:xfrm>
            <a:off x="7620000" y="21336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900">
                <a:solidFill>
                  <a:srgbClr val="4A3B2A"/>
                </a:solidFill>
                <a:latin typeface="精品点阵体"/>
                <a:ea typeface="精品点阵体"/>
              </a:rPr>
              <a:t>首页冒险面板</a:t>
            </a:r>
            <a:endParaRPr lang="en-US" sz="1900"/>
          </a:p>
        </p:txBody>
      </p:sp>
      <p:sp>
        <p:nvSpPr>
          <p:cNvPr id="18" name="pr-tag"/>
          <p:cNvSpPr txBox="1"/>
          <p:nvPr/>
        </p:nvSpPr>
        <p:spPr>
          <a:xfrm>
            <a:off x="7620000" y="25908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B5544A"/>
                </a:solidFill>
                <a:latin typeface="MiSans"/>
                <a:ea typeface="MiSans"/>
              </a:rPr>
              <a:t>每天打开，都是新的一页</a:t>
            </a:r>
            <a:endParaRPr lang="en-US" sz="1100"/>
          </a:p>
        </p:txBody>
      </p:sp>
      <p:sp>
        <p:nvSpPr>
          <p:cNvPr id="19" name="pr-list"/>
          <p:cNvSpPr txBox="1"/>
          <p:nvPr/>
        </p:nvSpPr>
        <p:spPr>
          <a:xfrm>
            <a:off x="6604000" y="3149600"/>
            <a:ext cx="46228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200000"/>
              </a:lnSpc>
            </a:pPr>
            <a:r>
              <a:rPr lang="en-US" sz="1300">
                <a:solidFill>
                  <a:srgbClr val="B5544A"/>
                </a:solidFill>
                <a:latin typeface="MiSans"/>
                <a:ea typeface="MiSans"/>
              </a:rPr>
              <a:t>▸</a:t>
            </a:r>
            <a:r>
              <a:rPr lang="en-US" sz="1300">
                <a:solidFill>
                  <a:srgbClr val="4A3B2A"/>
                </a:solidFill>
                <a:latin typeface="MiSans"/>
                <a:ea typeface="MiSans"/>
              </a:rPr>
              <a:t> 今日目标，一目了然</a:t>
            </a:r>
            <a:endParaRPr lang="en-US" sz="1300"/>
          </a:p>
          <a:p>
            <a:pPr algn="l">
              <a:lnSpc>
                <a:spcPct val="200000"/>
              </a:lnSpc>
            </a:pPr>
            <a:r>
              <a:rPr lang="en-US" sz="1300">
                <a:solidFill>
                  <a:srgbClr val="B5544A"/>
                </a:solidFill>
                <a:latin typeface="MiSans"/>
                <a:ea typeface="MiSans"/>
              </a:rPr>
              <a:t>▸</a:t>
            </a:r>
            <a:r>
              <a:rPr lang="en-US" sz="1300">
                <a:solidFill>
                  <a:srgbClr val="4A3B2A"/>
                </a:solidFill>
                <a:latin typeface="MiSans"/>
                <a:ea typeface="MiSans"/>
              </a:rPr>
              <a:t> 阶段 Deadline，撕日历式提醒</a:t>
            </a:r>
            <a:endParaRPr lang="en-US" sz="1300"/>
          </a:p>
          <a:p>
            <a:pPr algn="l">
              <a:lnSpc>
                <a:spcPct val="200000"/>
              </a:lnSpc>
            </a:pPr>
            <a:r>
              <a:rPr lang="en-US" sz="1300">
                <a:solidFill>
                  <a:srgbClr val="B5544A"/>
                </a:solidFill>
                <a:latin typeface="MiSans"/>
                <a:ea typeface="MiSans"/>
              </a:rPr>
              <a:t>▸</a:t>
            </a:r>
            <a:r>
              <a:rPr lang="en-US" sz="1300">
                <a:solidFill>
                  <a:srgbClr val="4A3B2A"/>
                </a:solidFill>
                <a:latin typeface="MiSans"/>
                <a:ea typeface="MiSans"/>
              </a:rPr>
              <a:t> ToDo List + 等级经验条</a:t>
            </a:r>
            <a:endParaRPr lang="en-US" sz="1300"/>
          </a:p>
        </p:txBody>
      </p:sp>
      <p:pic>
        <p:nvPicPr>
          <p:cNvPr id="20" name="pr-progress"/>
          <p:cNvPicPr/>
          <p:nvPr/>
        </p:nvPicPr>
        <p:blipFill>
          <a:blip r:embed="rIdImage25"/>
          <a:stretch>
            <a:fillRect/>
          </a:stretch>
        </p:blipFill>
        <p:spPr>
          <a:xfrm>
            <a:off x="6604000" y="5105400"/>
            <a:ext cx="3048000" cy="609600"/>
          </a:xfrm>
          <a:prstGeom prst="rect">
            <a:avLst/>
          </a:prstGeom>
          <a:ln>
            <a:noFill/>
          </a:ln>
        </p:spPr>
      </p:pic>
      <p:sp>
        <p:nvSpPr>
          <p:cNvPr id="21" name="pr-progress-label"/>
          <p:cNvSpPr txBox="1"/>
          <p:nvPr/>
        </p:nvSpPr>
        <p:spPr>
          <a:xfrm>
            <a:off x="6604000" y="57404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spc="200" kern="0">
                <a:solidFill>
                  <a:srgbClr val="8B6B4A"/>
                </a:solidFill>
                <a:latin typeface="Jersey15"/>
                <a:ea typeface="Jersey15"/>
              </a:rPr>
              <a:t>EXP · LV.03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blipFill>
          <a:blip r:embed="rIdImage5"/>
          <a:srcRect t="21875" b="21875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rand"/>
          <p:cNvSpPr txBox="1"/>
          <p:nvPr/>
        </p:nvSpPr>
        <p:spPr>
          <a:xfrm>
            <a:off x="609600" y="2794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spc="300" kern="0">
                <a:solidFill>
                  <a:srgbClr val="8B6B4A"/>
                </a:solidFill>
                <a:latin typeface="Jersey15"/>
                <a:ea typeface="Jersey15"/>
              </a:rPr>
              <a:t>ZHIJIAN · LIFE RPG</a:t>
            </a:r>
            <a:endParaRPr lang="en-US" sz="1000"/>
          </a:p>
        </p:txBody>
      </p:sp>
      <p:sp>
        <p:nvSpPr>
          <p:cNvPr id="3" name="hdr-page"/>
          <p:cNvSpPr txBox="1"/>
          <p:nvPr/>
        </p:nvSpPr>
        <p:spPr>
          <a:xfrm>
            <a:off x="10058400" y="2794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000" spc="300" kern="0">
                <a:solidFill>
                  <a:srgbClr val="8B6B4A"/>
                </a:solidFill>
                <a:latin typeface="Jersey15"/>
                <a:ea typeface="Jersey15"/>
              </a:rPr>
              <a:t>08 / 09</a:t>
            </a:r>
            <a:endParaRPr lang="en-US" sz="1000"/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9652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800">
                <a:solidFill>
                  <a:srgbClr val="4A3B2A"/>
                </a:solidFill>
                <a:latin typeface="精品点阵体"/>
                <a:ea typeface="精品点阵体"/>
              </a:rPr>
              <a:t>美术与技术 · 像素的温度</a:t>
            </a:r>
            <a:endParaRPr lang="en-US" sz="2800"/>
          </a:p>
        </p:txBody>
      </p:sp>
      <p:sp>
        <p:nvSpPr>
          <p:cNvPr id="5" name="title-tick"/>
          <p:cNvSpPr/>
          <p:nvPr/>
        </p:nvSpPr>
        <p:spPr>
          <a:xfrm>
            <a:off x="635000" y="1270000"/>
            <a:ext cx="914400" cy="63500"/>
          </a:xfrm>
          <a:prstGeom prst="rect">
            <a:avLst/>
          </a:prstGeom>
          <a:solidFill>
            <a:srgbClr val="D9A441"/>
          </a:solidFill>
          <a:ln>
            <a:noFill/>
          </a:ln>
        </p:spPr>
      </p:sp>
      <p:sp>
        <p:nvSpPr>
          <p:cNvPr id="6" name="art-sub"/>
          <p:cNvSpPr txBox="1"/>
          <p:nvPr/>
        </p:nvSpPr>
        <p:spPr>
          <a:xfrm>
            <a:off x="609600" y="16764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4A3B2A"/>
                </a:solidFill>
                <a:latin typeface="MiSans"/>
                <a:ea typeface="MiSans"/>
              </a:rPr>
              <a:t>8bit 像素风 · 全套素材 Pixellab 生成</a:t>
            </a:r>
            <a:endParaRPr lang="en-US" sz="1300"/>
          </a:p>
        </p:txBody>
      </p:sp>
      <p:pic>
        <p:nvPicPr>
          <p:cNvPr id="7" name="a1"/>
          <p:cNvPicPr/>
          <p:nvPr/>
        </p:nvPicPr>
        <p:blipFill>
          <a:blip r:embed="rIdImage3"/>
          <a:stretch>
            <a:fillRect/>
          </a:stretch>
        </p:blipFill>
        <p:spPr>
          <a:xfrm>
            <a:off x="609600" y="21844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8" name="a1-t"/>
          <p:cNvSpPr txBox="1"/>
          <p:nvPr/>
        </p:nvSpPr>
        <p:spPr>
          <a:xfrm>
            <a:off x="457200" y="3022600"/>
            <a:ext cx="111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00">
                <a:solidFill>
                  <a:srgbClr val="8B6B4A"/>
                </a:solidFill>
                <a:latin typeface="MiSans"/>
                <a:ea typeface="MiSans"/>
              </a:rPr>
              <a:t>冒险者</a:t>
            </a:r>
            <a:endParaRPr lang="en-US" sz="900"/>
          </a:p>
        </p:txBody>
      </p:sp>
      <p:pic>
        <p:nvPicPr>
          <p:cNvPr id="9" name="a2"/>
          <p:cNvPicPr/>
          <p:nvPr/>
        </p:nvPicPr>
        <p:blipFill>
          <a:blip r:embed="rIdImage26"/>
          <a:stretch>
            <a:fillRect/>
          </a:stretch>
        </p:blipFill>
        <p:spPr>
          <a:xfrm>
            <a:off x="1879600" y="21844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0" name="a2-t"/>
          <p:cNvSpPr txBox="1"/>
          <p:nvPr/>
        </p:nvSpPr>
        <p:spPr>
          <a:xfrm>
            <a:off x="1727200" y="3022600"/>
            <a:ext cx="111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00">
                <a:solidFill>
                  <a:srgbClr val="8B6B4A"/>
                </a:solidFill>
                <a:latin typeface="MiSans"/>
                <a:ea typeface="MiSans"/>
              </a:rPr>
              <a:t>致意</a:t>
            </a:r>
            <a:endParaRPr lang="en-US" sz="900"/>
          </a:p>
        </p:txBody>
      </p:sp>
      <p:pic>
        <p:nvPicPr>
          <p:cNvPr id="11" name="a3"/>
          <p:cNvPicPr/>
          <p:nvPr/>
        </p:nvPicPr>
        <p:blipFill>
          <a:blip r:embed="rIdImage10"/>
          <a:stretch>
            <a:fillRect/>
          </a:stretch>
        </p:blipFill>
        <p:spPr>
          <a:xfrm>
            <a:off x="3149600" y="21844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2" name="a3-t"/>
          <p:cNvSpPr txBox="1"/>
          <p:nvPr/>
        </p:nvSpPr>
        <p:spPr>
          <a:xfrm>
            <a:off x="2997200" y="3022600"/>
            <a:ext cx="111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00">
                <a:solidFill>
                  <a:srgbClr val="8B6B4A"/>
                </a:solidFill>
                <a:latin typeface="MiSans"/>
                <a:ea typeface="MiSans"/>
              </a:rPr>
              <a:t>学者 NPC</a:t>
            </a:r>
            <a:endParaRPr lang="en-US" sz="900"/>
          </a:p>
        </p:txBody>
      </p:sp>
      <p:pic>
        <p:nvPicPr>
          <p:cNvPr id="13" name="a4"/>
          <p:cNvPicPr/>
          <p:nvPr/>
        </p:nvPicPr>
        <p:blipFill>
          <a:blip r:embed="rIdImage22"/>
          <a:stretch>
            <a:fillRect/>
          </a:stretch>
        </p:blipFill>
        <p:spPr>
          <a:xfrm>
            <a:off x="4419600" y="21844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4" name="a4-t"/>
          <p:cNvSpPr txBox="1"/>
          <p:nvPr/>
        </p:nvSpPr>
        <p:spPr>
          <a:xfrm>
            <a:off x="4267200" y="3022600"/>
            <a:ext cx="111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00">
                <a:solidFill>
                  <a:srgbClr val="8B6B4A"/>
                </a:solidFill>
                <a:latin typeface="MiSans"/>
                <a:ea typeface="MiSans"/>
              </a:rPr>
              <a:t>猫咪</a:t>
            </a:r>
            <a:endParaRPr lang="en-US" sz="900"/>
          </a:p>
        </p:txBody>
      </p:sp>
      <p:pic>
        <p:nvPicPr>
          <p:cNvPr id="15" name="a5"/>
          <p:cNvPicPr/>
          <p:nvPr/>
        </p:nvPicPr>
        <p:blipFill>
          <a:blip r:embed="rIdImage16"/>
          <a:stretch>
            <a:fillRect/>
          </a:stretch>
        </p:blipFill>
        <p:spPr>
          <a:xfrm>
            <a:off x="609600" y="35814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6" name="a5-t"/>
          <p:cNvSpPr txBox="1"/>
          <p:nvPr/>
        </p:nvSpPr>
        <p:spPr>
          <a:xfrm>
            <a:off x="457200" y="4419600"/>
            <a:ext cx="111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00">
                <a:solidFill>
                  <a:srgbClr val="8B6B4A"/>
                </a:solidFill>
                <a:latin typeface="MiSans"/>
                <a:ea typeface="MiSans"/>
              </a:rPr>
              <a:t>小屋</a:t>
            </a:r>
            <a:endParaRPr lang="en-US" sz="900"/>
          </a:p>
        </p:txBody>
      </p:sp>
      <p:pic>
        <p:nvPicPr>
          <p:cNvPr id="17" name="a6"/>
          <p:cNvPicPr/>
          <p:nvPr/>
        </p:nvPicPr>
        <p:blipFill>
          <a:blip r:embed="rIdImage27"/>
          <a:stretch>
            <a:fillRect/>
          </a:stretch>
        </p:blipFill>
        <p:spPr>
          <a:xfrm>
            <a:off x="1879600" y="35814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8" name="a6-t"/>
          <p:cNvSpPr txBox="1"/>
          <p:nvPr/>
        </p:nvSpPr>
        <p:spPr>
          <a:xfrm>
            <a:off x="1727200" y="4419600"/>
            <a:ext cx="111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00">
                <a:solidFill>
                  <a:srgbClr val="8B6B4A"/>
                </a:solidFill>
                <a:latin typeface="MiSans"/>
                <a:ea typeface="MiSans"/>
              </a:rPr>
              <a:t>树木</a:t>
            </a:r>
            <a:endParaRPr lang="en-US" sz="900"/>
          </a:p>
        </p:txBody>
      </p:sp>
      <p:pic>
        <p:nvPicPr>
          <p:cNvPr id="19" name="a7"/>
          <p:cNvPicPr/>
          <p:nvPr/>
        </p:nvPicPr>
        <p:blipFill>
          <a:blip r:embed="rIdImage20"/>
          <a:stretch>
            <a:fillRect/>
          </a:stretch>
        </p:blipFill>
        <p:spPr>
          <a:xfrm>
            <a:off x="3149600" y="35814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20" name="a7-t"/>
          <p:cNvSpPr txBox="1"/>
          <p:nvPr/>
        </p:nvSpPr>
        <p:spPr>
          <a:xfrm>
            <a:off x="2997200" y="4419600"/>
            <a:ext cx="111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00">
                <a:solidFill>
                  <a:srgbClr val="8B6B4A"/>
                </a:solidFill>
                <a:latin typeface="MiSans"/>
                <a:ea typeface="MiSans"/>
              </a:rPr>
              <a:t>宝箱</a:t>
            </a:r>
            <a:endParaRPr lang="en-US" sz="900"/>
          </a:p>
        </p:txBody>
      </p:sp>
      <p:pic>
        <p:nvPicPr>
          <p:cNvPr id="21" name="a8"/>
          <p:cNvPicPr/>
          <p:nvPr/>
        </p:nvPicPr>
        <p:blipFill>
          <a:blip r:embed="rIdImage23"/>
          <a:stretch>
            <a:fillRect/>
          </a:stretch>
        </p:blipFill>
        <p:spPr>
          <a:xfrm>
            <a:off x="4419600" y="35814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22" name="a8-t"/>
          <p:cNvSpPr txBox="1"/>
          <p:nvPr/>
        </p:nvSpPr>
        <p:spPr>
          <a:xfrm>
            <a:off x="4267200" y="4419600"/>
            <a:ext cx="111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00">
                <a:solidFill>
                  <a:srgbClr val="8B6B4A"/>
                </a:solidFill>
                <a:latin typeface="MiSans"/>
                <a:ea typeface="MiSans"/>
              </a:rPr>
              <a:t>作物</a:t>
            </a:r>
            <a:endParaRPr lang="en-US" sz="900"/>
          </a:p>
        </p:txBody>
      </p:sp>
      <p:sp>
        <p:nvSpPr>
          <p:cNvPr id="23" name="pal-note"/>
          <p:cNvSpPr txBox="1"/>
          <p:nvPr/>
        </p:nvSpPr>
        <p:spPr>
          <a:xfrm>
            <a:off x="609600" y="50546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8B6B4A"/>
                </a:solidFill>
                <a:latin typeface="MiSans"/>
                <a:ea typeface="MiSans"/>
              </a:rPr>
              <a:t>统一低饱和暖色板</a:t>
            </a:r>
            <a:endParaRPr lang="en-US" sz="1000"/>
          </a:p>
        </p:txBody>
      </p:sp>
      <p:sp>
        <p:nvSpPr>
          <p:cNvPr id="24" name="sw-1"/>
          <p:cNvSpPr/>
          <p:nvPr/>
        </p:nvSpPr>
        <p:spPr>
          <a:xfrm>
            <a:off x="609600" y="5384800"/>
            <a:ext cx="228600" cy="228600"/>
          </a:xfrm>
          <a:prstGeom prst="rect">
            <a:avLst/>
          </a:prstGeom>
          <a:solidFill>
            <a:srgbClr val="F2E8D5"/>
          </a:solidFill>
          <a:ln w="12700">
            <a:solidFill>
              <a:srgbClr val="8B6B4A"/>
            </a:solidFill>
          </a:ln>
        </p:spPr>
      </p:sp>
      <p:sp>
        <p:nvSpPr>
          <p:cNvPr id="25" name="sw-2"/>
          <p:cNvSpPr/>
          <p:nvPr/>
        </p:nvSpPr>
        <p:spPr>
          <a:xfrm>
            <a:off x="889000" y="5384800"/>
            <a:ext cx="228600" cy="228600"/>
          </a:xfrm>
          <a:prstGeom prst="rect">
            <a:avLst/>
          </a:prstGeom>
          <a:solidFill>
            <a:srgbClr val="8B6B4A"/>
          </a:solidFill>
          <a:ln>
            <a:noFill/>
          </a:ln>
        </p:spPr>
      </p:sp>
      <p:sp>
        <p:nvSpPr>
          <p:cNvPr id="26" name="sw-3"/>
          <p:cNvSpPr/>
          <p:nvPr/>
        </p:nvSpPr>
        <p:spPr>
          <a:xfrm>
            <a:off x="1168400" y="5384800"/>
            <a:ext cx="228600" cy="228600"/>
          </a:xfrm>
          <a:prstGeom prst="rect">
            <a:avLst/>
          </a:prstGeom>
          <a:solidFill>
            <a:srgbClr val="7FA393"/>
          </a:solidFill>
          <a:ln>
            <a:noFill/>
          </a:ln>
        </p:spPr>
      </p:sp>
      <p:sp>
        <p:nvSpPr>
          <p:cNvPr id="27" name="sw-4"/>
          <p:cNvSpPr/>
          <p:nvPr/>
        </p:nvSpPr>
        <p:spPr>
          <a:xfrm>
            <a:off x="1447800" y="5384800"/>
            <a:ext cx="228600" cy="228600"/>
          </a:xfrm>
          <a:prstGeom prst="rect">
            <a:avLst/>
          </a:prstGeom>
          <a:solidFill>
            <a:srgbClr val="B5544A"/>
          </a:solidFill>
          <a:ln>
            <a:noFill/>
          </a:ln>
        </p:spPr>
      </p:sp>
      <p:sp>
        <p:nvSpPr>
          <p:cNvPr id="28" name="sw-5"/>
          <p:cNvSpPr/>
          <p:nvPr/>
        </p:nvSpPr>
        <p:spPr>
          <a:xfrm>
            <a:off x="1727200" y="5384800"/>
            <a:ext cx="228600" cy="228600"/>
          </a:xfrm>
          <a:prstGeom prst="rect">
            <a:avLst/>
          </a:prstGeom>
          <a:solidFill>
            <a:srgbClr val="D9A441"/>
          </a:solidFill>
          <a:ln>
            <a:noFill/>
          </a:ln>
        </p:spPr>
      </p:sp>
      <p:sp>
        <p:nvSpPr>
          <p:cNvPr id="29" name="pal-label"/>
          <p:cNvSpPr txBox="1"/>
          <p:nvPr/>
        </p:nvSpPr>
        <p:spPr>
          <a:xfrm>
            <a:off x="2108200" y="538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rgbClr val="8B6B4A"/>
                </a:solidFill>
                <a:latin typeface="MiSans"/>
                <a:ea typeface="MiSans"/>
              </a:rPr>
              <a:t>羊皮纸 / 木棕 / 苔绿 / 莓红 / 金</a:t>
            </a:r>
            <a:endParaRPr lang="en-US" sz="900"/>
          </a:p>
        </p:txBody>
      </p:sp>
      <p:sp>
        <p:nvSpPr>
          <p:cNvPr id="30" name="sep"/>
          <p:cNvSpPr/>
          <p:nvPr/>
        </p:nvSpPr>
        <p:spPr>
          <a:xfrm>
            <a:off x="6083300" y="1778000"/>
            <a:ext cx="12700" cy="4191000"/>
          </a:xfrm>
          <a:prstGeom prst="rect">
            <a:avLst/>
          </a:prstGeom>
          <a:solidFill>
            <a:srgbClr val="C9C2B4"/>
          </a:solidFill>
          <a:ln>
            <a:noFill/>
          </a:ln>
        </p:spPr>
      </p:sp>
      <p:sp>
        <p:nvSpPr>
          <p:cNvPr id="31" name="tech-sub"/>
          <p:cNvSpPr txBox="1"/>
          <p:nvPr/>
        </p:nvSpPr>
        <p:spPr>
          <a:xfrm>
            <a:off x="6553200" y="1676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4A3B2A"/>
                </a:solidFill>
                <a:latin typeface="MiSans"/>
                <a:ea typeface="MiSans"/>
              </a:rPr>
              <a:t>AI 全面接入 · 每个模块都有大模型</a:t>
            </a:r>
            <a:endParaRPr lang="en-US" sz="1300"/>
          </a:p>
        </p:txBody>
      </p:sp>
      <p:pic>
        <p:nvPicPr>
          <p:cNvPr id="32" name="r1-icon"/>
          <p:cNvPicPr/>
          <p:nvPr/>
        </p:nvPicPr>
        <p:blipFill>
          <a:blip r:embed="rIdImage14"/>
          <a:stretch>
            <a:fillRect/>
          </a:stretch>
        </p:blipFill>
        <p:spPr>
          <a:xfrm>
            <a:off x="6553200" y="2235200"/>
            <a:ext cx="508000" cy="508000"/>
          </a:xfrm>
          <a:prstGeom prst="rect">
            <a:avLst/>
          </a:prstGeom>
          <a:ln>
            <a:noFill/>
          </a:ln>
        </p:spPr>
      </p:pic>
      <p:sp>
        <p:nvSpPr>
          <p:cNvPr id="33" name="r1-title"/>
          <p:cNvSpPr txBox="1"/>
          <p:nvPr/>
        </p:nvSpPr>
        <p:spPr>
          <a:xfrm>
            <a:off x="7264400" y="2235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4A3B2A"/>
                </a:solidFill>
                <a:latin typeface="MiSans"/>
                <a:ea typeface="MiSans"/>
              </a:rPr>
              <a:t>目标拆解</a:t>
            </a:r>
            <a:endParaRPr lang="en-US" sz="1300"/>
          </a:p>
        </p:txBody>
      </p:sp>
      <p:sp>
        <p:nvSpPr>
          <p:cNvPr id="34" name="r1-desc"/>
          <p:cNvSpPr txBox="1"/>
          <p:nvPr/>
        </p:nvSpPr>
        <p:spPr>
          <a:xfrm>
            <a:off x="7264400" y="25400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B6B4A"/>
                </a:solidFill>
                <a:latin typeface="MiSans"/>
                <a:ea typeface="MiSans"/>
              </a:rPr>
              <a:t>联网搜索 + LLM，把大目标拆成小步任务</a:t>
            </a:r>
            <a:endParaRPr lang="en-US" sz="1100"/>
          </a:p>
        </p:txBody>
      </p:sp>
      <p:pic>
        <p:nvPicPr>
          <p:cNvPr id="35" name="r2-icon"/>
          <p:cNvPicPr/>
          <p:nvPr/>
        </p:nvPicPr>
        <p:blipFill>
          <a:blip r:embed="rIdImage15"/>
          <a:stretch>
            <a:fillRect/>
          </a:stretch>
        </p:blipFill>
        <p:spPr>
          <a:xfrm>
            <a:off x="6553200" y="3124200"/>
            <a:ext cx="508000" cy="508000"/>
          </a:xfrm>
          <a:prstGeom prst="rect">
            <a:avLst/>
          </a:prstGeom>
          <a:ln>
            <a:noFill/>
          </a:ln>
        </p:spPr>
      </p:pic>
      <p:sp>
        <p:nvSpPr>
          <p:cNvPr id="36" name="r2-title"/>
          <p:cNvSpPr txBox="1"/>
          <p:nvPr/>
        </p:nvSpPr>
        <p:spPr>
          <a:xfrm>
            <a:off x="7264400" y="3124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4A3B2A"/>
                </a:solidFill>
                <a:latin typeface="MiSans"/>
                <a:ea typeface="MiSans"/>
              </a:rPr>
              <a:t>墨水日记</a:t>
            </a:r>
            <a:endParaRPr lang="en-US" sz="1300"/>
          </a:p>
        </p:txBody>
      </p:sp>
      <p:sp>
        <p:nvSpPr>
          <p:cNvPr id="37" name="r2-desc"/>
          <p:cNvSpPr txBox="1"/>
          <p:nvPr/>
        </p:nvSpPr>
        <p:spPr>
          <a:xfrm>
            <a:off x="7264400" y="34290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B6B4A"/>
                </a:solidFill>
                <a:latin typeface="MiSans"/>
                <a:ea typeface="MiSans"/>
              </a:rPr>
              <a:t>AI 读懂你的心事，以墨水回信</a:t>
            </a:r>
            <a:endParaRPr lang="en-US" sz="1100"/>
          </a:p>
        </p:txBody>
      </p:sp>
      <p:pic>
        <p:nvPicPr>
          <p:cNvPr id="38" name="r3-icon"/>
          <p:cNvPicPr/>
          <p:nvPr/>
        </p:nvPicPr>
        <p:blipFill>
          <a:blip r:embed="rIdImage8"/>
          <a:stretch>
            <a:fillRect/>
          </a:stretch>
        </p:blipFill>
        <p:spPr>
          <a:xfrm>
            <a:off x="6553200" y="4013200"/>
            <a:ext cx="508000" cy="508000"/>
          </a:xfrm>
          <a:prstGeom prst="rect">
            <a:avLst/>
          </a:prstGeom>
          <a:ln>
            <a:noFill/>
          </a:ln>
        </p:spPr>
      </p:pic>
      <p:sp>
        <p:nvSpPr>
          <p:cNvPr id="39" name="r3-title"/>
          <p:cNvSpPr txBox="1"/>
          <p:nvPr/>
        </p:nvSpPr>
        <p:spPr>
          <a:xfrm>
            <a:off x="7264400" y="4013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4A3B2A"/>
                </a:solidFill>
                <a:latin typeface="MiSans"/>
                <a:ea typeface="MiSans"/>
              </a:rPr>
              <a:t>NPC 灵魂</a:t>
            </a:r>
            <a:endParaRPr lang="en-US" sz="1300"/>
          </a:p>
        </p:txBody>
      </p:sp>
      <p:sp>
        <p:nvSpPr>
          <p:cNvPr id="40" name="r3-desc"/>
          <p:cNvSpPr txBox="1"/>
          <p:nvPr/>
        </p:nvSpPr>
        <p:spPr>
          <a:xfrm>
            <a:off x="7264400" y="43180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B6B4A"/>
                </a:solidFill>
                <a:latin typeface="MiSans"/>
                <a:ea typeface="MiSans"/>
              </a:rPr>
              <a:t>每位小镇居民，都由 AI 驱动对话与好感</a:t>
            </a:r>
            <a:endParaRPr lang="en-US" sz="1100"/>
          </a:p>
        </p:txBody>
      </p:sp>
      <p:pic>
        <p:nvPicPr>
          <p:cNvPr id="41" name="r4-icon"/>
          <p:cNvPicPr/>
          <p:nvPr/>
        </p:nvPicPr>
        <p:blipFill>
          <a:blip r:embed="rIdImage17"/>
          <a:stretch>
            <a:fillRect/>
          </a:stretch>
        </p:blipFill>
        <p:spPr>
          <a:xfrm>
            <a:off x="6553200" y="4902200"/>
            <a:ext cx="508000" cy="508000"/>
          </a:xfrm>
          <a:prstGeom prst="rect">
            <a:avLst/>
          </a:prstGeom>
          <a:ln>
            <a:noFill/>
          </a:ln>
        </p:spPr>
      </p:pic>
      <p:sp>
        <p:nvSpPr>
          <p:cNvPr id="42" name="r4-title"/>
          <p:cNvSpPr txBox="1"/>
          <p:nvPr/>
        </p:nvSpPr>
        <p:spPr>
          <a:xfrm>
            <a:off x="7264400" y="4902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4A3B2A"/>
                </a:solidFill>
                <a:latin typeface="MiSans"/>
                <a:ea typeface="MiSans"/>
              </a:rPr>
              <a:t>简历生成</a:t>
            </a:r>
            <a:endParaRPr lang="en-US" sz="1300"/>
          </a:p>
        </p:txBody>
      </p:sp>
      <p:sp>
        <p:nvSpPr>
          <p:cNvPr id="43" name="r4-desc"/>
          <p:cNvSpPr txBox="1"/>
          <p:nvPr/>
        </p:nvSpPr>
        <p:spPr>
          <a:xfrm>
            <a:off x="7264400" y="52070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B6B4A"/>
                </a:solidFill>
                <a:latin typeface="MiSans"/>
                <a:ea typeface="MiSans"/>
              </a:rPr>
              <a:t>AI 汇总成长轨迹，输出简历与作品集</a:t>
            </a:r>
            <a:endParaRPr lang="en-US" sz="1100"/>
          </a:p>
        </p:txBody>
      </p:sp>
      <p:sp>
        <p:nvSpPr>
          <p:cNvPr id="44" name="foot-note"/>
          <p:cNvSpPr txBox="1"/>
          <p:nvPr/>
        </p:nvSpPr>
        <p:spPr>
          <a:xfrm>
            <a:off x="609600" y="60706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4A3B2A"/>
                </a:solidFill>
                <a:latin typeface="精品点阵体"/>
                <a:ea typeface="精品点阵体"/>
              </a:rPr>
              <a:t>复古像素的外表，前沿 AI 的内核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blipFill>
          <a:blip r:embed="rIdImage28"/>
          <a:srcRect t="21875" b="21875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rner-tl"/>
          <p:cNvPicPr/>
          <p:nvPr/>
        </p:nvPicPr>
        <p:blipFill>
          <a:blip r:embed="rIdImage2"/>
          <a:stretch>
            <a:fillRect/>
          </a:stretch>
        </p:blipFill>
        <p:spPr>
          <a:xfrm>
            <a:off x="203200" y="203200"/>
            <a:ext cx="711200" cy="711200"/>
          </a:xfrm>
          <a:prstGeom prst="rect">
            <a:avLst/>
          </a:prstGeom>
          <a:ln>
            <a:noFill/>
          </a:ln>
        </p:spPr>
      </p:pic>
      <p:pic>
        <p:nvPicPr>
          <p:cNvPr id="3" name="corner-tr"/>
          <p:cNvPicPr/>
          <p:nvPr/>
        </p:nvPicPr>
        <p:blipFill>
          <a:blip r:embed="rIdImage2"/>
          <a:stretch>
            <a:fillRect/>
          </a:stretch>
        </p:blipFill>
        <p:spPr>
          <a:xfrm flipH="1">
            <a:off x="11277600" y="203200"/>
            <a:ext cx="711200" cy="711200"/>
          </a:xfrm>
          <a:prstGeom prst="rect">
            <a:avLst/>
          </a:prstGeom>
          <a:ln>
            <a:noFill/>
          </a:ln>
        </p:spPr>
      </p:pic>
      <p:pic>
        <p:nvPicPr>
          <p:cNvPr id="4" name="corner-bl"/>
          <p:cNvPicPr/>
          <p:nvPr/>
        </p:nvPicPr>
        <p:blipFill>
          <a:blip r:embed="rIdImage2"/>
          <a:stretch>
            <a:fillRect/>
          </a:stretch>
        </p:blipFill>
        <p:spPr>
          <a:xfrm flipV="1">
            <a:off x="203200" y="5943600"/>
            <a:ext cx="711200" cy="711200"/>
          </a:xfrm>
          <a:prstGeom prst="rect">
            <a:avLst/>
          </a:prstGeom>
          <a:ln>
            <a:noFill/>
          </a:ln>
        </p:spPr>
      </p:pic>
      <p:pic>
        <p:nvPicPr>
          <p:cNvPr id="5" name="corner-br"/>
          <p:cNvPicPr/>
          <p:nvPr/>
        </p:nvPicPr>
        <p:blipFill>
          <a:blip r:embed="rIdImage2"/>
          <a:stretch>
            <a:fillRect/>
          </a:stretch>
        </p:blipFill>
        <p:spPr>
          <a:xfrm flipH="1" flipV="1">
            <a:off x="11277600" y="5943600"/>
            <a:ext cx="711200" cy="711200"/>
          </a:xfrm>
          <a:prstGeom prst="rect">
            <a:avLst/>
          </a:prstGeom>
          <a:ln>
            <a:noFill/>
          </a:ln>
        </p:spPr>
      </p:pic>
      <p:sp>
        <p:nvSpPr>
          <p:cNvPr id="6" name="top-label"/>
          <p:cNvSpPr txBox="1"/>
          <p:nvPr/>
        </p:nvSpPr>
        <p:spPr>
          <a:xfrm>
            <a:off x="3556000" y="762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000" spc="300" kern="0">
                <a:solidFill>
                  <a:srgbClr val="FAF3E3"/>
                </a:solidFill>
                <a:latin typeface="Jersey15"/>
                <a:ea typeface="Jersey15"/>
              </a:rPr>
              <a:t>职见未来 · 人生 RPG</a:t>
            </a:r>
            <a:endParaRPr lang="en-US" sz="1000"/>
          </a:p>
        </p:txBody>
      </p:sp>
      <p:sp>
        <p:nvSpPr>
          <p:cNvPr id="7" name="slogan"/>
          <p:cNvSpPr txBox="1"/>
          <p:nvPr/>
        </p:nvSpPr>
        <p:spPr>
          <a:xfrm>
            <a:off x="0" y="2133600"/>
            <a:ext cx="12192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3600">
                <a:solidFill>
                  <a:srgbClr val="D9A441"/>
                </a:solidFill>
                <a:latin typeface="精品点阵体"/>
                <a:ea typeface="精品点阵体"/>
              </a:rPr>
              <a:t>把人生，变成一场 RPG</a:t>
            </a:r>
            <a:endParaRPr lang="en-US" sz="3600"/>
          </a:p>
        </p:txBody>
      </p:sp>
      <p:sp>
        <p:nvSpPr>
          <p:cNvPr id="8" name="vision"/>
          <p:cNvSpPr txBox="1"/>
          <p:nvPr/>
        </p:nvSpPr>
        <p:spPr>
          <a:xfrm>
            <a:off x="0" y="3149600"/>
            <a:ext cx="1219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FAF3E3"/>
                </a:solidFill>
                <a:latin typeface="MiSans"/>
                <a:ea typeface="MiSans"/>
              </a:rPr>
              <a:t>帮助青少年在 AI 时代更快学习知识、实现自我成长</a:t>
            </a:r>
            <a:endParaRPr lang="en-US" sz="1500"/>
          </a:p>
        </p:txBody>
      </p:sp>
      <p:sp>
        <p:nvSpPr>
          <p:cNvPr id="9" name="press-start"/>
          <p:cNvSpPr txBox="1"/>
          <p:nvPr/>
        </p:nvSpPr>
        <p:spPr>
          <a:xfrm>
            <a:off x="0" y="4013200"/>
            <a:ext cx="1219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spc="600" kern="0">
                <a:solidFill>
                  <a:srgbClr val="D9A441"/>
                </a:solidFill>
                <a:latin typeface="Jersey15"/>
                <a:ea typeface="Jersey15"/>
              </a:rPr>
              <a:t>PRESS START</a:t>
            </a:r>
            <a:endParaRPr lang="en-US" sz="1400"/>
          </a:p>
        </p:txBody>
      </p:sp>
      <p:pic>
        <p:nvPicPr>
          <p:cNvPr id="10" name="hero-wave"/>
          <p:cNvPicPr/>
          <p:nvPr/>
        </p:nvPicPr>
        <p:blipFill>
          <a:blip r:embed="rIdImage26"/>
          <a:stretch>
            <a:fillRect/>
          </a:stretch>
        </p:blipFill>
        <p:spPr>
          <a:xfrm>
            <a:off x="5384800" y="4724400"/>
            <a:ext cx="1219200" cy="1219200"/>
          </a:xfrm>
          <a:prstGeom prst="rect">
            <a:avLst/>
          </a:prstGeom>
          <a:ln>
            <a:noFill/>
          </a:ln>
        </p:spPr>
      </p:pic>
      <p:pic>
        <p:nvPicPr>
          <p:cNvPr id="11" name="cat"/>
          <p:cNvPicPr/>
          <p:nvPr/>
        </p:nvPicPr>
        <p:blipFill>
          <a:blip r:embed="rIdImage22"/>
          <a:stretch>
            <a:fillRect/>
          </a:stretch>
        </p:blipFill>
        <p:spPr>
          <a:xfrm>
            <a:off x="6807200" y="5232400"/>
            <a:ext cx="660400" cy="660400"/>
          </a:xfrm>
          <a:prstGeom prst="rect">
            <a:avLst/>
          </a:prstGeom>
          <a:ln>
            <a:noFill/>
          </a:ln>
        </p:spPr>
      </p:pic>
      <p:pic>
        <p:nvPicPr>
          <p:cNvPr id="12" name="sparkle-l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3810000" y="1905000"/>
            <a:ext cx="508000" cy="508000"/>
          </a:xfrm>
          <a:prstGeom prst="rect">
            <a:avLst/>
          </a:prstGeom>
          <a:ln>
            <a:noFill/>
          </a:ln>
        </p:spPr>
      </p:pic>
      <p:pic>
        <p:nvPicPr>
          <p:cNvPr id="13" name="sparkle-r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7874000" y="1778000"/>
            <a:ext cx="508000" cy="508000"/>
          </a:xfrm>
          <a:prstGeom prst="rect">
            <a:avLst/>
          </a:prstGeom>
          <a:ln>
            <a:noFill/>
          </a:ln>
        </p:spPr>
      </p:pic>
      <p:sp>
        <p:nvSpPr>
          <p:cNvPr id="14" name="foot-label"/>
          <p:cNvSpPr txBox="1"/>
          <p:nvPr/>
        </p:nvSpPr>
        <p:spPr>
          <a:xfrm>
            <a:off x="3556000" y="629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000" spc="300" kern="0">
                <a:solidFill>
                  <a:srgbClr val="C9C2B4"/>
                </a:solidFill>
                <a:latin typeface="Jersey15"/>
                <a:ea typeface="Jersey15"/>
              </a:rPr>
              <a:t>ZHIJIAN · LIFE RPG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9</Slides>
</Properties>
</file>

<file path=docProps/core.xml><?xml version="1.0" encoding="utf-8"?>
<cp:coreProperties xmlns:cp="http://schemas.openxmlformats.org/package/2006/metadata/core-properties" xmlns:dc="http://purl.org/dc/elements/1.1/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/>
  </property>
</Properties>
</file>